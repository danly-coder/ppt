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今天不从名词考试开始。我们把准备这场交流会的过程摆到台面上：AI 要查官方资料、读源码、解释概念、制作幻灯片，最后还要证明自己确实检查过。大家可以带着一个问题听：如果把你工作中的一项任务交给它，你最不放心哪一步？我会把能从官方材料核实的机制，与个人的架构归纳和研究设想分开说。先用这份 PPT 本身做案例，再看四个项目各自提供了什么。
过渡问题：一份能看的回答，离一份能交付的 PPT 还有多远？
结论：从这份 PPT，聊 Agent、Harness 与持续改进
证据类型：交流地图
Claims：
来源（2026-10-23 核查；源码只静态阅读）：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假设委托只有一句话：帮我准备校友 AI 交流会。如果模型只返回一篇大纲，回答已经结束，工作却刚开始。资料要能追溯，讲解要适合初学者，PPT 要能编辑，最后还要打开看看。我们把它拆成六段，后面每个概念都回到其中一个具体环节。特别留意“检查”这一步：文件存在、能打开、事实有证据，是不同条件。这个任务由当前 Codex 会话完成，其他项目用于官方架构对照。
过渡问题：哪些步骤适合固定下来，哪些步骤需要模型临场判断？
结论：同一个目标，需要多次行动、落盘和核验
证据类型：贯穿案例
Claims：
来源（2026-10-23 核查；源码只静态阅读）：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把三者看成可组合的做法。单次模型调用可以解释 Harness；固定脚本可以把 JSON 生成 PPT；Agent 则在发现文档链接失效后决定换到官方仓库。这里的差异是“下一步由谁选择”，不是谁听起来更高级。现实系统常把开放的研究步骤交给 Agent，把构建和校验交给确定性程序。如果步骤已经清楚，固定流程往往更容易观察和复现。
过渡问题：当模型开始调用工具后，循环是怎样闭合的？
结论：LLM 生成内容；Workflow 固定路径；Agent 根据反馈选下一步
证据类型：架构归纳
Claims：C08
来源（2026-10-23 核查；源码只静态阅读）：
S22 Building effective agents
https://www.anthropic.com/research/building-effective-agents
定位：What are agents?
S10 Codex run_turn
https://github.com/openai/codex/blob/8531184b49bcb160175a84e140b659a83a426df7/codex-rs/core/src/session/turn.rs#L158
定位：[(158, 195), (570, 640), (730, 750)]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我们请求查 DSH 的架构，模型提出读取文档，宿主执行读取，返回内容或报错。下一轮模型看到反馈，才决定是否继续读源码。这就是最小闭环。图里的“决策”是模型生成下一步建议；真正执行命令的是程序和工具，模型自己并没有文件系统权限。Codex 的 run_turn 明确处理工具反馈与继续条件；DSH 也有对应循环。停止条件同样重要：交付完成、预算耗尽或需要人工输入，都应该能退出。
过渡问题：既然能根据结果调整，为什么长任务仍会失败？
结论：决策 → 行动 → 观察 → 再决策
证据类型：源码事实 + 示意架构
Claims：C01, C08
来源（2026-10-23 核查；源码只静态阅读）：
S10 Codex run_turn
https://github.com/openai/codex/blob/8531184b49bcb160175a84e140b659a83a426df7/codex-rs/core/src/session/turn.rs#L158
定位：[(158, 195), (570, 640), (730, 750)]
S19 DSH ReactLoopAgent
https://github.com/deepseek-ai/deepseek-harness/blob/687f282e8625c6b8d11ff58211a90524be2e4317/packages/core/agent-loop/src/agent.ts#L260
定位：[(260, 313), (675, 703)]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象四个小故障：搜索命中了过期教程，渲染工具没有安装，会话中断忘了哪条结论还没核实，最后构建成功但中文挤出文本框。这些都不是多写一句“请认真”就能完全解决的。需要分别补来源管理、执行环境、持久状态和验收机制。模型能力当然重要，但我们也能通过工程设计让失败更容易被发现和修复。今天我们实际遇到过缺少项目 Skill 与网络连接问题，这些属于环境前提，而不是事实真假。
过渡问题：这些补丁能不能组成一个可复用的运行底座？
结论：失败可能出在信息、执行、连续性和验收四处
证据类型：案例推演
Claims：C13
来源（2026-10-23 核查；源码只静态阅读）：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可以把 Harness 理解为让智能体做事的运行底座。里面有循环，也有工具调用、权限、日志、上下文管理与状态；应用还可以在外面加验收与业务规则。这个词不是一个跨项目统一接口。我们只用它帮助定位责任：是模型建议错了，还是工具没有执行，还是结果没保存？图上把“事实核查”和“构建检查”放到应用验收层，是我们的设计建议，不能误称 Codex 会替所有任务自动做完。
过渡问题：在 Codex 里，哪些部分能找到具体代码？
结论：模型提出行动；Harness 决定怎样执行和记录
证据类型：架构归纳
Claims：C01, C08
来源（2026-10-23 核查；源码只静态阅读）：
S02 Unlocking the Codex harness
https://openai.com/index/unlocking-the-codex-harness/
定位：Inside the Codex harness; conversation primitives
S11 Codex ToolOrchestrator
https://github.com/openai/codex/blob/8531184b49bcb160175a84e140b659a83a426df7/codex-rs/core/src/tools/orchestrator.rs#L1
定位：[(1, 4), (130, 180), (280, 305)]
S04 DSH architecture
https://github.com/deepseek-ai/deepseek-harness/blob/687f282e8625c6b8d11ff58211a90524be2e4317/docs/architecture.md#L1
定位：[(1, 42), (74, 145)]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对应到本次任务，模型决定读取文件，run_turn 驱动一次次请求，工具编排层处理执行政策，再把返回值送回后续上下文。源码的 run_turn 在当前提交已经移到 session/turn.rs，直接照搬旧路径会找不到。ToolOrchestrator 的职责注释写着审批、沙箱选择和拒绝后的重试。App Server 让客户端围绕 thread、turn 和 item 呈现工作进度。这里的持久会话不是长期知识库，也不代表所有外部动作都可回滚。
过渡问题：Skill、MCP 和 Tool 分别放在哪里？
结论：从 run_turn 到 ToolOrchestrator，再把反馈写回会话
证据类型：CODEX / 运行控制
Claims：C01
来源（2026-10-23 核查；源码只静态阅读）：
S10 Codex run_turn
https://github.com/openai/codex/blob/8531184b49bcb160175a84e140b659a83a426df7/codex-rs/core/src/session/turn.rs#L158
定位：[(158, 195), (570, 640), (730, 750)]
S11 Codex ToolOrchestrator
https://github.com/openai/codex/blob/8531184b49bcb160175a84e140b659a83a426df7/codex-rs/core/src/tools/orchestrator.rs#L1
定位：[(1, 4), (130, 180), (280, 305)]
S02 Unlocking the Codex harness
https://openai.com/index/unlocking-the-codex-harness/
定位：Inside the Codex harness; conversation primitives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举三个具体例子：读取一个文件是 Tool；通过 MCP 暴露的仓库连接，让 Agent 能访问外部能力；ai-tech-talk Skill 则告诉它先核来源、再写知识资料、再生成和检查 PPT。Skill 可以附脚本，但文字指令并不是硬性执行器；因此仍需检查代码和产物。MCP 服务不一定只提供工具，也可能提供资源等能力。三者不是竞争关系，一项任务可以同时用到它们。我们这次确实读取了项目 Skill，并在它的基础上重写内容和生成器。
过渡问题：如果要让模型、循环甚至会话都能替换，会怎样组织？
结论：Tool 提供动作；MCP 连接能力；Skill 组织做事方法
证据类型：架构归纳
Claims：C06, C07
来源（2026-10-23 核查；源码只静态阅读）：
S09 Build skills
https://learn.chatgpt.com/docs/build-skills
定位：How ChatGPT and Codex use skills; Where Codex loads local skills
S02 Unlocking the Codex harness
https://openai.com/index/unlocking-the-codex-harness/
定位：Inside the Codex harness; conversation primitives
S21 DSH guarded tools
https://github.com/deepseek-ai/deepseek-harness/blob/687f282e8625c6b8d11ff58211a90524be2e4317/packages/core/tools/src/index.ts#L725
定位：[(725, 739), (1500, 1537)]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DeepSeek Harness 不是 DeepSeek 模型的另一种称呼。官方架构把 Cordis 作为插件基础，插件贡献服务、事件与可撤销的注册效果。AgentLoop 在代码里也是 Service，依赖 sessions、llm、tools 等服务。profile 通过有顺序的 bundle 与 patch 组成运行树。对于 PPT 案例，可以想象替换资料检索或渲染能力，而不是复制一套界面。可替换带来灵活性，也需要接口、生命周期和权限回归；这里没有测量组合后的性能。
过渡问题：替换能力之外，任务中断时怎样接着做？
结论：模型适配、工具、会话与 Agent Loop 都有替换接缝
证据类型：DSH / 插件组合
Claims：C02
来源（2026-10-23 核查；源码只静态阅读）：
S03 DeepSeek Harness 官网
https://deepseek.com/harness/
定位：预览版; 一切皆插件
S04 DSH architecture
https://github.com/deepseek-ai/deepseek-harness/blob/687f282e8625c6b8d11ff58211a90524be2e4317/docs/architecture.md#L1
定位：[(1, 42), (74, 145)]
S16 DSH AgentLoop service
https://github.com/deepseek-ai/deepseek-harness/blob/687f282e8625c6b8d11ff58211a90524be2e4317/packages/core/agent-loop/src/index.ts#L338
定位：[(338, 365)]
S19 DSH ReactLoopAgent
https://github.com/deepseek-ai/deepseek-harness/blob/687f282e8625c6b8d11ff58211a90524be2e4317/packages/core/agent-loop/src/agent.ts#L260
定位：[(260, 313), (675, 703)]
S21 DSH guarded tools
https://github.com/deepseek-ai/deepseek-harness/blob/687f282e8625c6b8d11ff58211a90524be2e4317/packages/core/tools/src/index.ts#L725
定位：[(725, 739), (1500, 1537)]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假设核查已经完成，PPT 还没渲染。我们把已核结论、文件位置、待办和下一个节点放在图状态中，由 checkpointer 保存。恢复时用同一 thread_id 找回对应进度。Store 是另一条线，保存跨任务复用的信息，例如这类交流会喜欢先讲案例。源码 compile 同时接受两者。注意恢复的是保存的状态和执行进度，不是冻结整个操作系统；外部发邮件、重复计费或覆盖文件，仍需应用处理幂等和边界。
过渡问题：有了图状态，执行工具的工作区又在哪里？
结论：Graph State → Checkpoint → 同一 thread 继续
证据类型：LANGGRAPH / 持久状态
Claims：C03, C11
来源（2026-10-23 核查；源码只静态阅读）：
S05 LangGraph Persistence
https://docs.langchain.com/oss/python/langgraph/persistence
定位：Checkpointer vs. store; MemorySaver does not persist between restarts
S12 LangGraph StateGraph.compile
https://github.com/langchain-ai/langgraph/blob/9d68e5b3eb1a63027b05e9f0152149ea0284dcdb/libs/langgraph/langgraph/graph/state.py#L131
定位：[(131, 157), (1177, 1214), (1355, 1365)]
S13 LangGraph BaseCheckpointSaver
https://github.com/langchain-ai/langgraph/blob/9d68e5b3eb1a63027b05e9f0152149ea0284dcdb/libs/checkpoint/langgraph/checkpoint/base/__init__.py#L93
定位：[(93, 130), (199, 230)]
S18 LangGraph BaseStore
https://github.com/langchain-ai/langgraph/blob/9d68e5b3eb1a63027b05e9f0152149ea0284dcdb/libs/checkpoint/langgraph/store/base/__init__.py#L1
定位：[(1, 12), (708, 736)]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OpenHands Software Agent SDK 有 Agent、Conversation、Tool 和 Workspace 等组件。Conversation 工厂检查 workspace 类型，返回本地或远程实现；Agent.step 从会话视图组装输入，也处理压缩事件。用在 PPT 案例里，本地原型可以直接调用渲染工具，而远程部署可以让 Agent Server 在容器工作区内执行同一类工作。不能把“用了 workspace”就等同有沙箱，也不要把 UI 产品和 SDK 当成同一个仓库。我们读了源码，但没有部署这个 SDK。
过渡问题：四个项目放在一起，究竟该比较什么？
结论：Conversation 选择本地或远程；工具在选定环境运行
证据类型：OPENHANDS / 执行部署
Claims：C04, C05
来源（2026-10-23 核查；源码只静态阅读）：
S07 OpenHands SDK architecture
https://docs.openhands.dev/sdk/arch/overview
定位：Four-Package Architecture; Two Deployment Modes
S14 OpenHands Agent.step
https://github.com/OpenHands/software-agent-sdk/blob/60192ed54db73ac658ac1a07462916126c32d3a0/openhands-sdk/openhands/sdk/agent/agent.py#L690
定位：[(690, 757)]
S17 OpenHands Conversation factory
https://github.com/OpenHands/software-agent-sdk/blob/60192ed54db73ac658ac1a07462916126c32d3a0/openhands-sdk/openhands/sdk/conversation/conversation.py#L34
定位：[(34, 58), (153, 165), (190, 235)]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如果已经在 Codex 里完成代码与文档任务，可以先利用它的工具执行和运行边界。如果在做可扩展产品，DSH 提供插件组合视角。如果任务的人工确认、分支和恢复很复杂，LangGraph 的状态模型值得研究。如果要把软件 Agent 放进远程工作区，OpenHands SDK 的部署分层很直观。这些都是观察重点，不是独占功能清单，更不是一个排序。也可以让 LangGraph 编排一个调用 Codex 的节点，前提是明确两边谁保存状态、谁处理失败。
过渡问题：选好底座以后，每次模型调用到底该看到什么？
结论：先问自己缺什么，再选择要借用哪一层
证据类型：设计取舍
Claims：C01, C02, C03, C04
来源（2026-10-23 核查；源码只静态阅读）：
S10 Codex run_turn
https://github.com/openai/codex/blob/8531184b49bcb160175a84e140b659a83a426df7/codex-rs/core/src/session/turn.rs#L158
定位：[(158, 195), (570, 640), (730, 750)]
S11 Codex ToolOrchestrator
https://github.com/openai/codex/blob/8531184b49bcb160175a84e140b659a83a426df7/codex-rs/core/src/tools/orchestrator.rs#L1
定位：[(1, 4), (130, 180), (280, 305)]
S04 DSH architecture
https://github.com/deepseek-ai/deepseek-harness/blob/687f282e8625c6b8d11ff58211a90524be2e4317/docs/architecture.md#L1
定位：[(1, 42), (74, 145)]
S12 LangGraph StateGraph.compile
https://github.com/langchain-ai/langgraph/blob/9d68e5b3eb1a63027b05e9f0152149ea0284dcdb/libs/langgraph/langgraph/graph/state.py#L131
定位：[(131, 157), (1177, 1214), (1355, 1365)]
S13 LangGraph BaseCheckpointSaver
https://github.com/langchain-ai/langgraph/blob/9d68e5b3eb1a63027b05e9f0152149ea0284dcdb/libs/checkpoint/langgraph/checkpoint/base/__init__.py#L93
定位：[(93, 130), (199, 230)]
S17 OpenHands Conversation factory
https://github.com/OpenHands/software-agent-sdk/blob/60192ed54db73ac658ac1a07462916126c32d3a0/openhands-sdk/openhands/sdk/conversation/conversation.py#L34
定位：[(34, 58), (153, 165), (190, 235)]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已经读了不少源码，但写某一页时不需要把五个仓库全部塞给模型。这一轮可能只需要一条结论、两段相关代码、来源路径以及还没解决的问题。上下文工程就是持续决定这些输入。压缩历史可以节省空间，但要保住约束、未核实项与可回查路径，不能把“没检查”压成“已确认”。OpenHands 的 step 与 DSH 的会话投影也说明，模型看到的是经过组装的视图，不是程序里所有数据。
过渡问题：这些原材料、进度和经验，是同一种“记忆”吗？
结论：把任务目标、相关证据和当前进度组装成有效输入
证据类型：架构归纳
Claims：C09, C05
来源（2026-10-23 核查；源码只静态阅读）：
S06 Effective context engineering
https://www.anthropic.com/research/effective-context-engineering-for-ai-agents
定位：Context engineering vs. prompt engineering; Long-horizon tasks
S14 OpenHands Agent.step
https://github.com/OpenHands/software-agent-sdk/blob/60192ed54db73ac658ac1a07462916126c32d3a0/openhands-sdk/openhands/sdk/agent/agent.py#L690
定位：[(690, 757)]
S19 DSH ReactLoopAgent
https://github.com/deepseek-ai/deepseek-harness/blob/687f282e8625c6b8d11ff58211a90524be2e4317/packages/core/agent-loop/src/agent.ts#L260
定位：[(260, 313), (675, 703)]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用同一份 PPT 看三个视角。模型正在读的源码片段属于 Context；程序保存“第十页待渲染、三条结论待复核”，属于 State；下次交流还适用的听众偏好，属于 Memory。State 可以包含记忆，取出的记忆也会进入 Context，所以它们不是三个互斥的桶。尤其不要把“State 是任务真相”理解成内容一定为真，它只是程序当前依赖的记录，仍然需要来源和校验。换一个窗口，也不等于把所有持久资料都清空。
过渡问题：记忆怎样写入和检索，才不会越用越错？
结论：本轮输入｜任务记录｜可复用保留信息
证据类型：架构归纳
Claims：C10
来源（2026-10-23 核查；源码只静态阅读）：
S13 LangGraph BaseCheckpointSaver
https://github.com/langchain-ai/langgraph/blob/9d68e5b3eb1a63027b05e9f0152149ea0284dcdb/libs/checkpoint/langgraph/checkpoint/base/__init__.py#L93
定位：[(93, 130), (199, 230)]
S18 LangGraph BaseStore
https://github.com/langchain-ai/langgraph/blob/9d68e5b3eb1a63027b05e9f0152149ea0284dcdb/libs/checkpoint/langgraph/store/base/__init__.py#L1
定位：[(1, 12), (708, 736)]
S14 OpenHands Agent.step
https://github.com/OpenHands/software-agent-sdk/blob/60192ed54db73ac658ac1a07462916126c32d3a0/openhands-sdk/openhands/sdk/agent/agent.py#L690
定位：[(690, 757)]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我们可以把短期进度放 checkpoint，把经核实的知识和偏好放应用自己的 Store。写入时至少问：来自哪里、适用谁、什么时候核实、何时复核？检索时也不只是相似度高就全拿来，要按当前任务和范围筛选。语义知识、情景经历、程序性经验是有用的分类，但不必为每一类建一个数据库。源码 BaseStore 提供存取接口和 namespace，是否启用向量搜索、TTL 及如何纠错，需要另外设计。
过渡问题：如果一条错误知识已经被保存，会造成什么？
结论：候选信息 → 验证与定界 → 保存 → 检索 → 更新
证据类型：设计建议
Claims：C10, C11, C12
来源（2026-10-23 核查；源码只静态阅读）：
S18 LangGraph BaseStore
https://github.com/langchain-ai/langgraph/blob/9d68e5b3eb1a63027b05e9f0152149ea0284dcdb/libs/checkpoint/langgraph/store/base/__init__.py#L1
定位：[(1, 12), (708, 736)]
S13 LangGraph BaseCheckpointSaver
https://github.com/langchain-ai/langgraph/blob/9d68e5b3eb1a63027b05e9f0152149ea0284dcdb/libs/checkpoint/langgraph/checkpoint/base/__init__.py#L93
定位：[(93, 130), (199, 230)]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这里做一个小型故障演练。旧笔记写着“启用 checkpoint 后，断电也不丢”。下次做项目时照着用 InMemorySaver，就可能在重启后发现状态没了。正确的处理不只是改当前回答，还应找到这条笔记的来源，标记失效，写明只适用于当前进程，并为重启恢复配置持久后端。新的上下文应该检索到修正后的记录。这个例子提醒我们，记忆系统也需要回归问题集，而不是只统计写进去了多少条。
过渡问题：怎样证明这些改动让系统真的更可靠？
结论：例：把“内存 saver”误记为“重启可恢复”
证据类型：案例推演
Claims：C11, C12
来源（2026-10-23 核查；源码只静态阅读）：
S05 LangGraph Persistence
https://docs.langchain.com/oss/python/langgraph/persistence
定位：Checkpointer vs. store; MemorySaver does not persist between restarts
S18 LangGraph BaseStore
https://github.com/langchain-ai/langgraph/blob/9d68e5b3eb1a63027b05e9f0152149ea0284dcdb/libs/checkpoint/langgraph/store/base/__init__.py#L1
定位：[(1, 12), (708, 736)]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如果比较两个版本的 Skill，先固定一批任务：正常资料、失效链接、缺少渲染器、中断恢复、故意放入错误来源。不要只用这一次演讲做训练题又当考试题。结构检查可以自动化，事实是否被证据支持需要逐条审阅，讲得是否清楚还要初学者反馈。我们可以记录成功率、耗时、费用与人工介入次数，再决定改动是否值得保留。今天只实际验收这份交付，不把一次 build 通过说成系统成功率提高。
过渡问题：哪些检查机器能做，哪些必须另外审查？
结论：用固定任务与独立验收，观察结果、成本和人工介入
证据类型：设计建议
Claims：C13, C14
来源（2026-10-23 核查；源码只静态阅读）：
S20 DGM outer loop
https://github.com/jennyzzt/dgm/blob/a565fd2d1dca504ef5104a7cc0f3bdc4ab9b4fd2/DGM_outer.py#L146
定位：[(146, 190), (270, 300), (315, 332)]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把这次交付的三条证据线展示出来。build 证明生成器能产出文件；check 检查引用 ID、备注和 PPTX 的结构；render 才能暴露字体与布局问题。它们都不能独立证明某条技术陈述被官方支持，所以我们另外保存 claim 到 source 的映射和固定提交的代码片段。目前这三条检查线都已完成；QA 保存实际命令和范围。大家也可以问：如果模型负责生成又负责检查，会不会重复自己的盲点？这也是保留独立验收标准的原因。
过渡问题：当系统发现自己的失败后，改的究竟是哪一层？
结论：通过一项验收，不能替代另外两项
证据类型：实际案例 / 验收路径
Claims：C13
来源（2026-10-23 核查；源码只静态阅读）：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模型发现一页挤不下，重新排版，这是任务内修正。把“标题应更短”的偏好留给下次，是记忆更新。改写工具或生成脚本，再用任务集验证，则开始触及系统自修改。RSI 更关心：改动能否进一步提升它产生后续改进的能力。几层之间没有一句提示词就能跨过去的保证。自修改也不一定修改模型权重，可能只是工具、上下文策略或 Agent 代码。我们本次修生成器是在人工目标约束下完成任务，不能据此声称复现了 RSI。
过渡问题：有没有研究系统真正尝试修改自己的 Agent 代码？
结论：先分清改了任务结果、保留信息，还是 Agent 程序
证据类型：架构归纳 + 研究讨论
Claims：C16, C17
来源（2026-10-23 核查；源码只静态阅读）：
S10 Codex run_turn
https://github.com/openai/codex/blob/8531184b49bcb160175a84e140b659a83a426df7/codex-rs/core/src/session/turn.rs#L158
定位：[(158, 195), (570, 640), (730, 750)]
S18 LangGraph BaseStore
https://github.com/langchain-ai/langgraph/blob/9d68e5b3eb1a63027b05e9f0152149ea0284dcdb/libs/checkpoint/langgraph/store/base/__init__.py#L1
定位：[(1, 12), (708, 736)]
S20 DGM outer loop
https://github.com/jennyzzt/dgm/blob/a565fd2d1dca504ef5104a7cc0f3bdc4ab9b4fd2/DGM_outer.py#L146
定位：[(146, 190), (270, 300), (315, 332)]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Darwin Gödel Machine 给出一个具体研究例子。它维护不同 Agent 的档案，选择父候选，让基础模型生成修改，再通过编码任务评测。源码不是简单的“只留本代冠军”，档案更新可以保留多个可运行候选，从而探索不同分支。论文讨论的是受限编码实验中的经验结果，不是任意环境都可靠的证明。这里还有评测适配、搜索成本、结果泛化和人工监督等问题。我们只读取论文摘要和作者代码，没有重新运行那些实验，也不引用分数作横向排名。
过渡问题：回到这份 PPT：这些机制怎样接成一条改进链？
结论：从候选档案选父代 → 修改代码 → 评测 → 更新档案
证据类型：研究事实 + 边界
Claims：C15
来源（2026-10-23 核查；源码只静态阅读）：
S08 Darwin Gödel Machine paper
https://arxiv.org/abs/2505.22954v3
定位：Abstract; submission history
S15 DGM authors README
https://github.com/jennyzzt/dgm/blob/a565fd2d1dca504ef5104a7cc0f3bdc4ab9b4fd2/README.md#L20
定位：[(20, 32), (75, 104)]
S20 DGM outer loop
https://github.com/jennyzzt/dgm/blob/a565fd2d1dca504ef5104a7cc0f3bdc4ab9b4fd2/DGM_outer.py#L146
定位：[(146, 190), (270, 300), (315, 332)]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现在把地图接起来。Agent 在 Harness 中行动，工具改变环境，反馈回到下一轮。State 保存当前任务，Memory 留下可复用信息；上下文工程决定哪些内容进入模型。Eval 在另一条线上判断产物和系统改动是否值得接受。只有改动进一步提升后续自改进能力并获得证据，才有资格讨论 RSI。各环节不能相互替代：长记忆不能代替核事实，强沙箱不能代替好评测，多 Agent 也不能代替清楚的交付标准。
过渡问题：如果只带走一个实践动作，你会从哪个闭环开始？
结论：Agent 做事；Harness 承载；Context / Memory 供给；Eval 检验
证据类型：关系总图
Claims：C08, C10, C13, C16
来源（2026-10-23 核查；源码只静态阅读）：
S10 Codex run_turn
https://github.com/openai/codex/blob/8531184b49bcb160175a84e140b659a83a426df7/codex-rs/core/src/session/turn.rs#L158
定位：[(158, 195), (570, 640), (730, 750)]
S11 Codex ToolOrchestrator
https://github.com/openai/codex/blob/8531184b49bcb160175a84e140b659a83a426df7/codex-rs/core/src/tools/orchestrator.rs#L1
定位：[(1, 4), (130, 180), (280, 305)]
S13 LangGraph BaseCheckpointSaver
https://github.com/langchain-ai/langgraph/blob/9d68e5b3eb1a63027b05e9f0152149ea0284dcdb/libs/checkpoint/langgraph/checkpoint/base/__init__.py#L93
定位：[(93, 130), (199, 230)]
S18 LangGraph BaseStore
https://github.com/langchain-ai/langgraph/blob/9d68e5b3eb1a63027b05e9f0152149ea0284dcdb/libs/checkpoint/langgraph/store/base/__init__.py#L1
定位：[(1, 12), (708, 736)]
S20 DGM outer loop
https://github.com/jennyzzt/dgm/blob/a565fd2d1dca504ef5104a7cc0f3bdc4ab9b4fd2/DGM_outer.py#L146
定位：[(146, 190), (270, 300), (315, 332)]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给想继续研究的校友留一条轻量路线。想看循环，读 Codex run_turn，再读工具编排。想看插件，读 DSH architecture 和 AgentLoop 的依赖。想看恢复，先对照 BaseCheckpointSaver 与 BaseStore。想看部署，读 OpenHands Conversation 的工厂分支。最后再看 DGM 的外层选择与评测循环。资料包不是链接堆，每个重要结论都有定位和不适用范围。代码会演进，链接固定到本次实际读取的提交，官网状态另记核查日期。
过渡问题：带着自己的任务，我们可以争论哪三个选择？
结论：每个问题都有一条可复查的阅读路径
证据类型：继续阅读
Claims：C01, C02, C03, C04, C15
来源（2026-10-23 核查；源码只静态阅读）：
S10 Codex run_turn
https://github.com/openai/codex/blob/8531184b49bcb160175a84e140b659a83a426df7/codex-rs/core/src/session/turn.rs#L158
定位：[(158, 195), (570, 640), (730, 750)]
S11 Codex ToolOrchestrator
https://github.com/openai/codex/blob/8531184b49bcb160175a84e140b659a83a426df7/codex-rs/core/src/tools/orchestrator.rs#L1
定位：[(1, 4), (130, 180), (280, 305)]
S16 DSH AgentLoop service
https://github.com/deepseek-ai/deepseek-harness/blob/687f282e8625c6b8d11ff58211a90524be2e4317/packages/core/agent-loop/src/index.ts#L338
定位：[(338, 365)]
S13 LangGraph BaseCheckpointSaver
https://github.com/langchain-ai/langgraph/blob/9d68e5b3eb1a63027b05e9f0152149ea0284dcdb/libs/checkpoint/langgraph/checkpoint/base/__init__.py#L93
定位：[(93, 130), (199, 230)]
S18 LangGraph BaseStore
https://github.com/langchain-ai/langgraph/blob/9d68e5b3eb1a63027b05e9f0152149ea0284dcdb/libs/checkpoint/langgraph/store/base/__init__.py#L1
定位：[(1, 12), (708, 736)]
S17 OpenHands Conversation factory
https://github.com/OpenHands/software-agent-sdk/blob/60192ed54db73ac658ac1a07462916126c32d3a0/openhands-sdk/openhands/sdk/conversation/conversation.py#L34
定位：[(34, 58), (153, 165), (190, 235)]
S20 DGM outer loop
https://github.com/jennyzzt/dgm/blob/a565fd2d1dca504ef5104a7cc0f3bdc4ab9b4fd2/DGM_outer.py#L146
定位：[(146, 190), (270, 300), (315, 332)]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最后把时间留给大家。第一题，请挑自己工作里的一项任务，说出哪一步可以自动做、哪一步你希望自己确认。第二题，请举一条应该长期保留的信息，以及一条必须过期的信息。第三题，假设 AI 改了自己的工具，你会拿哪组没见过的任务验收？不必追求统一答案。我们可以比较各自的约束：有人在乎速度，有人在乎可追溯，也有人必须处理复杂权限。今天这份资料的价值是让这些讨论有共同的案例和边界。
过渡问题：请选择一个问题，从你的实际经历开始。
结论：自主到哪一步？记住哪些东西？怎样证明改得更好？
证据类型：开放讨论 / 20 MIN
Claims：C17, C18
来源（2026-10-23 核查；源码只静态阅读）：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nthropic.com/research/building-effective-agents" TargetMode="External"/><Relationship Id="rId2" Type="http://schemas.openxmlformats.org/officeDocument/2006/relationships/hyperlink" Target="https://github.com/openai/codex/blob/8531184b49bcb160175a84e140b659a83a426df7/codex-rs/core/src/session/turn.rs#L158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penai/codex/blob/8531184b49bcb160175a84e140b659a83a426df7/codex-rs/core/src/session/turn.rs#L158" TargetMode="External"/><Relationship Id="rId2" Type="http://schemas.openxmlformats.org/officeDocument/2006/relationships/hyperlink" Target="https://github.com/deepseek-ai/deepseek-harness/blob/687f282e8625c6b8d11ff58211a90524be2e4317/packages/core/agent-loop/src/agent.ts#L26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com/index/unlocking-the-codex-harness/" TargetMode="External"/><Relationship Id="rId2" Type="http://schemas.openxmlformats.org/officeDocument/2006/relationships/hyperlink" Target="https://github.com/openai/codex/blob/8531184b49bcb160175a84e140b659a83a426df7/codex-rs/core/src/tools/orchestrator.rs#L1" TargetMode="External"/><Relationship Id="rId3" Type="http://schemas.openxmlformats.org/officeDocument/2006/relationships/hyperlink" Target="https://github.com/deepseek-ai/deepseek-harness/blob/687f282e8625c6b8d11ff58211a90524be2e4317/docs/architecture.md#L1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penai/codex/blob/8531184b49bcb160175a84e140b659a83a426df7/codex-rs/core/src/session/turn.rs#L158" TargetMode="External"/><Relationship Id="rId2" Type="http://schemas.openxmlformats.org/officeDocument/2006/relationships/hyperlink" Target="https://github.com/openai/codex/blob/8531184b49bcb160175a84e140b659a83a426df7/codex-rs/core/src/tools/orchestrator.rs#L1" TargetMode="External"/><Relationship Id="rId3" Type="http://schemas.openxmlformats.org/officeDocument/2006/relationships/hyperlink" Target="https://openai.com/index/unlocking-the-codex-harness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chatgpt.com/docs/build-skills" TargetMode="External"/><Relationship Id="rId2" Type="http://schemas.openxmlformats.org/officeDocument/2006/relationships/hyperlink" Target="https://openai.com/index/unlocking-the-codex-harness/" TargetMode="External"/><Relationship Id="rId3" Type="http://schemas.openxmlformats.org/officeDocument/2006/relationships/hyperlink" Target="https://github.com/deepseek-ai/deepseek-harness/blob/687f282e8625c6b8d11ff58211a90524be2e4317/packages/core/tools/src/index.ts#L725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eepseek.com/harness/" TargetMode="External"/><Relationship Id="rId2" Type="http://schemas.openxmlformats.org/officeDocument/2006/relationships/hyperlink" Target="https://github.com/deepseek-ai/deepseek-harness/blob/687f282e8625c6b8d11ff58211a90524be2e4317/docs/architecture.md#L1" TargetMode="External"/><Relationship Id="rId3" Type="http://schemas.openxmlformats.org/officeDocument/2006/relationships/hyperlink" Target="https://github.com/deepseek-ai/deepseek-harness/blob/687f282e8625c6b8d11ff58211a90524be2e4317/packages/core/agent-loop/src/index.ts#L338" TargetMode="External"/><Relationship Id="rId4" Type="http://schemas.openxmlformats.org/officeDocument/2006/relationships/hyperlink" Target="https://github.com/deepseek-ai/deepseek-harness/blob/687f282e8625c6b8d11ff58211a90524be2e4317/packages/core/agent-loop/src/agent.ts#L260" TargetMode="External"/><Relationship Id="rId5" Type="http://schemas.openxmlformats.org/officeDocument/2006/relationships/hyperlink" Target="https://github.com/deepseek-ai/deepseek-harness/blob/687f282e8625c6b8d11ff58211a90524be2e4317/packages/core/tools/src/index.ts#L725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langchain.com/oss/python/langgraph/persistence" TargetMode="External"/><Relationship Id="rId2" Type="http://schemas.openxmlformats.org/officeDocument/2006/relationships/hyperlink" Target="https://github.com/langchain-ai/langgraph/blob/9d68e5b3eb1a63027b05e9f0152149ea0284dcdb/libs/langgraph/langgraph/graph/state.py#L131" TargetMode="External"/><Relationship Id="rId3" Type="http://schemas.openxmlformats.org/officeDocument/2006/relationships/hyperlink" Target="https://github.com/langchain-ai/langgraph/blob/9d68e5b3eb1a63027b05e9f0152149ea0284dcdb/libs/checkpoint/langgraph/checkpoint/base/__init__.py#L93" TargetMode="External"/><Relationship Id="rId4" Type="http://schemas.openxmlformats.org/officeDocument/2006/relationships/hyperlink" Target="https://github.com/langchain-ai/langgraph/blob/9d68e5b3eb1a63027b05e9f0152149ea0284dcdb/libs/checkpoint/langgraph/store/base/__init__.py#L1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penhands.dev/sdk/arch/overview" TargetMode="External"/><Relationship Id="rId2" Type="http://schemas.openxmlformats.org/officeDocument/2006/relationships/hyperlink" Target="https://github.com/OpenHands/software-agent-sdk/blob/60192ed54db73ac658ac1a07462916126c32d3a0/openhands-sdk/openhands/sdk/agent/agent.py#L690" TargetMode="External"/><Relationship Id="rId3" Type="http://schemas.openxmlformats.org/officeDocument/2006/relationships/hyperlink" Target="https://github.com/OpenHands/software-agent-sdk/blob/60192ed54db73ac658ac1a07462916126c32d3a0/openhands-sdk/openhands/sdk/conversation/conversation.py#L34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penai/codex/blob/8531184b49bcb160175a84e140b659a83a426df7/codex-rs/core/src/session/turn.rs#L158" TargetMode="External"/><Relationship Id="rId2" Type="http://schemas.openxmlformats.org/officeDocument/2006/relationships/hyperlink" Target="https://github.com/openai/codex/blob/8531184b49bcb160175a84e140b659a83a426df7/codex-rs/core/src/tools/orchestrator.rs#L1" TargetMode="External"/><Relationship Id="rId3" Type="http://schemas.openxmlformats.org/officeDocument/2006/relationships/hyperlink" Target="https://github.com/deepseek-ai/deepseek-harness/blob/687f282e8625c6b8d11ff58211a90524be2e4317/docs/architecture.md#L1" TargetMode="External"/><Relationship Id="rId4" Type="http://schemas.openxmlformats.org/officeDocument/2006/relationships/hyperlink" Target="https://github.com/langchain-ai/langgraph/blob/9d68e5b3eb1a63027b05e9f0152149ea0284dcdb/libs/langgraph/langgraph/graph/state.py#L131" TargetMode="External"/><Relationship Id="rId5" Type="http://schemas.openxmlformats.org/officeDocument/2006/relationships/hyperlink" Target="https://github.com/langchain-ai/langgraph/blob/9d68e5b3eb1a63027b05e9f0152149ea0284dcdb/libs/checkpoint/langgraph/checkpoint/base/__init__.py#L93" TargetMode="External"/><Relationship Id="rId6" Type="http://schemas.openxmlformats.org/officeDocument/2006/relationships/hyperlink" Target="https://github.com/OpenHands/software-agent-sdk/blob/60192ed54db73ac658ac1a07462916126c32d3a0/openhands-sdk/openhands/sdk/conversation/conversation.py#L34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nthropic.com/research/effective-context-engineering-for-ai-agents" TargetMode="External"/><Relationship Id="rId2" Type="http://schemas.openxmlformats.org/officeDocument/2006/relationships/hyperlink" Target="https://github.com/OpenHands/software-agent-sdk/blob/60192ed54db73ac658ac1a07462916126c32d3a0/openhands-sdk/openhands/sdk/agent/agent.py#L690" TargetMode="External"/><Relationship Id="rId3" Type="http://schemas.openxmlformats.org/officeDocument/2006/relationships/hyperlink" Target="https://github.com/deepseek-ai/deepseek-harness/blob/687f282e8625c6b8d11ff58211a90524be2e4317/packages/core/agent-loop/src/agent.ts#L260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langchain-ai/langgraph/blob/9d68e5b3eb1a63027b05e9f0152149ea0284dcdb/libs/checkpoint/langgraph/checkpoint/base/__init__.py#L93" TargetMode="External"/><Relationship Id="rId2" Type="http://schemas.openxmlformats.org/officeDocument/2006/relationships/hyperlink" Target="https://github.com/langchain-ai/langgraph/blob/9d68e5b3eb1a63027b05e9f0152149ea0284dcdb/libs/checkpoint/langgraph/store/base/__init__.py#L1" TargetMode="External"/><Relationship Id="rId3" Type="http://schemas.openxmlformats.org/officeDocument/2006/relationships/hyperlink" Target="https://github.com/OpenHands/software-agent-sdk/blob/60192ed54db73ac658ac1a07462916126c32d3a0/openhands-sdk/openhands/sdk/agent/agent.py#L690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langchain-ai/langgraph/blob/9d68e5b3eb1a63027b05e9f0152149ea0284dcdb/libs/checkpoint/langgraph/store/base/__init__.py#L1" TargetMode="External"/><Relationship Id="rId2" Type="http://schemas.openxmlformats.org/officeDocument/2006/relationships/hyperlink" Target="https://github.com/langchain-ai/langgraph/blob/9d68e5b3eb1a63027b05e9f0152149ea0284dcdb/libs/checkpoint/langgraph/checkpoint/base/__init__.py#L93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langchain.com/oss/python/langgraph/persistence" TargetMode="External"/><Relationship Id="rId2" Type="http://schemas.openxmlformats.org/officeDocument/2006/relationships/hyperlink" Target="https://github.com/langchain-ai/langgraph/blob/9d68e5b3eb1a63027b05e9f0152149ea0284dcdb/libs/checkpoint/langgraph/store/base/__init__.py#L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ennyzzt/dgm/blob/a565fd2d1dca504ef5104a7cc0f3bdc4ab9b4fd2/DGM_outer.py#L146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penai/codex/blob/8531184b49bcb160175a84e140b659a83a426df7/codex-rs/core/src/session/turn.rs#L158" TargetMode="External"/><Relationship Id="rId2" Type="http://schemas.openxmlformats.org/officeDocument/2006/relationships/hyperlink" Target="https://github.com/langchain-ai/langgraph/blob/9d68e5b3eb1a63027b05e9f0152149ea0284dcdb/libs/checkpoint/langgraph/store/base/__init__.py#L1" TargetMode="External"/><Relationship Id="rId3" Type="http://schemas.openxmlformats.org/officeDocument/2006/relationships/hyperlink" Target="https://github.com/jennyzzt/dgm/blob/a565fd2d1dca504ef5104a7cc0f3bdc4ab9b4fd2/DGM_outer.py#L146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5.22954v3" TargetMode="External"/><Relationship Id="rId2" Type="http://schemas.openxmlformats.org/officeDocument/2006/relationships/hyperlink" Target="https://github.com/jennyzzt/dgm/blob/a565fd2d1dca504ef5104a7cc0f3bdc4ab9b4fd2/README.md#L20" TargetMode="External"/><Relationship Id="rId3" Type="http://schemas.openxmlformats.org/officeDocument/2006/relationships/hyperlink" Target="https://github.com/jennyzzt/dgm/blob/a565fd2d1dca504ef5104a7cc0f3bdc4ab9b4fd2/DGM_outer.py#L146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penai/codex/blob/8531184b49bcb160175a84e140b659a83a426df7/codex-rs/core/src/session/turn.rs#L158" TargetMode="External"/><Relationship Id="rId2" Type="http://schemas.openxmlformats.org/officeDocument/2006/relationships/hyperlink" Target="https://github.com/openai/codex/blob/8531184b49bcb160175a84e140b659a83a426df7/codex-rs/core/src/tools/orchestrator.rs#L1" TargetMode="External"/><Relationship Id="rId3" Type="http://schemas.openxmlformats.org/officeDocument/2006/relationships/hyperlink" Target="https://github.com/langchain-ai/langgraph/blob/9d68e5b3eb1a63027b05e9f0152149ea0284dcdb/libs/checkpoint/langgraph/checkpoint/base/__init__.py#L93" TargetMode="External"/><Relationship Id="rId4" Type="http://schemas.openxmlformats.org/officeDocument/2006/relationships/hyperlink" Target="https://github.com/langchain-ai/langgraph/blob/9d68e5b3eb1a63027b05e9f0152149ea0284dcdb/libs/checkpoint/langgraph/store/base/__init__.py#L1" TargetMode="External"/><Relationship Id="rId5" Type="http://schemas.openxmlformats.org/officeDocument/2006/relationships/hyperlink" Target="https://github.com/jennyzzt/dgm/blob/a565fd2d1dca504ef5104a7cc0f3bdc4ab9b4fd2/DGM_outer.py#L146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penai/codex/blob/8531184b49bcb160175a84e140b659a83a426df7/codex-rs/core/src/session/turn.rs#L158" TargetMode="External"/><Relationship Id="rId2" Type="http://schemas.openxmlformats.org/officeDocument/2006/relationships/hyperlink" Target="https://github.com/openai/codex/blob/8531184b49bcb160175a84e140b659a83a426df7/codex-rs/core/src/tools/orchestrator.rs#L1" TargetMode="External"/><Relationship Id="rId3" Type="http://schemas.openxmlformats.org/officeDocument/2006/relationships/hyperlink" Target="https://github.com/deepseek-ai/deepseek-harness/blob/687f282e8625c6b8d11ff58211a90524be2e4317/packages/core/agent-loop/src/index.ts#L338" TargetMode="External"/><Relationship Id="rId4" Type="http://schemas.openxmlformats.org/officeDocument/2006/relationships/hyperlink" Target="https://github.com/langchain-ai/langgraph/blob/9d68e5b3eb1a63027b05e9f0152149ea0284dcdb/libs/checkpoint/langgraph/checkpoint/base/__init__.py#L93" TargetMode="External"/><Relationship Id="rId5" Type="http://schemas.openxmlformats.org/officeDocument/2006/relationships/hyperlink" Target="https://github.com/langchain-ai/langgraph/blob/9d68e5b3eb1a63027b05e9f0152149ea0284dcdb/libs/checkpoint/langgraph/store/base/__init__.py#L1" TargetMode="External"/><Relationship Id="rId6" Type="http://schemas.openxmlformats.org/officeDocument/2006/relationships/hyperlink" Target="https://github.com/OpenHands/software-agent-sdk/blob/60192ed54db73ac658ac1a07462916126c32d3a0/openhands-sdk/openhands/sdk/conversation/conversation.py#L34" TargetMode="External"/><Relationship Id="rId7" Type="http://schemas.openxmlformats.org/officeDocument/2006/relationships/hyperlink" Target="https://github.com/jennyzzt/dgm/blob/a565fd2d1dca504ef5104a7cc0f3bdc4ab9b4fd2/DGM_outer.py#L146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交流地图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 AI 交付成果，需要一整套系统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从这份 PPT，聊 Agent、Harness 与持续改进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2026.10.23 · 交流素材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23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" y="2322576"/>
            <a:ext cx="7315200" cy="256946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262432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从一份 PPT 开始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77824" y="3419856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× Harness × Context × Memory × Eval × RSI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77824" y="42428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官方资料与源码 · 一个贯穿案例 · 三个开放问题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57032" y="2322576"/>
            <a:ext cx="3337560" cy="25694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85632" y="2569464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8513064" y="3703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页交流素材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513064" y="4288536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 43 分钟 + 20 分钟讨论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54681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先看一次完整交付，再讨论系统为什么能持续做事。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贯穿案例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交付一份 PPT，至少要走完六步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同一个目标，需要多次行动、落盘和核验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本场案例｜不是四套系统的同题实测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23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" y="2761488"/>
            <a:ext cx="165049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889504"/>
            <a:ext cx="13761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4088" y="3255264"/>
            <a:ext cx="1431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找官方资料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2276856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464308" y="2761488"/>
            <a:ext cx="165049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01468" y="2889504"/>
            <a:ext cx="13761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574036" y="3255264"/>
            <a:ext cx="1431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核事实出处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146804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334256" y="2761488"/>
            <a:ext cx="165049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71416" y="2889504"/>
            <a:ext cx="13761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43984" y="3255264"/>
            <a:ext cx="1431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整理知识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016752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204204" y="2761488"/>
            <a:ext cx="165049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41364" y="2889504"/>
            <a:ext cx="13761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13932" y="3255264"/>
            <a:ext cx="1431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设计讲法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886700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074152" y="2761488"/>
            <a:ext cx="165049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11312" y="2889504"/>
            <a:ext cx="13761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183880" y="3255264"/>
            <a:ext cx="1431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PPT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756648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944100" y="2761488"/>
            <a:ext cx="165049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81260" y="2889504"/>
            <a:ext cx="13761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053828" y="3255264"/>
            <a:ext cx="1431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验证交付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交付标准先写清：可追溯、可编辑、可检查。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架构归纳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固定流程与动态决策可以一起用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生成内容；Workflow 固定路径；Agent 根据反馈选下一步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术语采用工作定义；不同项目用法并不完全相同</a:t>
            </a:r>
            <a:endParaRPr lang="en-US" sz="900" dirty="0"/>
          </a:p>
        </p:txBody>
      </p:sp>
      <p:sp>
        <p:nvSpPr>
          <p:cNvPr id="7" name="Text 5">
            <a:hlinkClick r:id="rId1" tooltip="Building effective agents"/>
          </p:cNvPr>
          <p:cNvSpPr/>
          <p:nvPr/>
        </p:nvSpPr>
        <p:spPr>
          <a:xfrm>
            <a:off x="621792" y="6455664"/>
            <a:ext cx="972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Building effective agen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S22 Agents 定义</a:t>
            </a:r>
            <a:endParaRPr lang="en-US" sz="750" dirty="0"/>
          </a:p>
        </p:txBody>
      </p:sp>
      <p:sp>
        <p:nvSpPr>
          <p:cNvPr id="8" name="Text 6">
            <a:hlinkClick r:id="rId2" tooltip="Codex run_turn"/>
          </p:cNvPr>
          <p:cNvSpPr/>
          <p:nvPr/>
        </p:nvSpPr>
        <p:spPr>
          <a:xfrm>
            <a:off x="1713586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Codex run_tur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Codex loop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23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55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单次 LLM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955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 → 回答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955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“解释一下 Harness”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281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93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293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Workflow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5293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预定代码路径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5293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“JSON → PPTX → PDF”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0619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631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631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2631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观察反馈再选行动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82631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“链接失效 → 换官方来源”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源码事实 + 示意架构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Loop 把工具结果带回下一轮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 → 行动 → 观察 → 再决策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示意架构｜闭环能适应反馈，但不会自动保证正确</a:t>
            </a:r>
            <a:endParaRPr lang="en-US" sz="900" dirty="0"/>
          </a:p>
        </p:txBody>
      </p:sp>
      <p:sp>
        <p:nvSpPr>
          <p:cNvPr id="7" name="Text 5">
            <a:hlinkClick r:id="rId1" tooltip="Codex run_turn"/>
          </p:cNvPr>
          <p:cNvSpPr/>
          <p:nvPr/>
        </p:nvSpPr>
        <p:spPr>
          <a:xfrm>
            <a:off x="62179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Codex run_tur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Codex loop</a:t>
            </a:r>
            <a:endParaRPr lang="en-US" sz="750" dirty="0"/>
          </a:p>
        </p:txBody>
      </p:sp>
      <p:sp>
        <p:nvSpPr>
          <p:cNvPr id="8" name="Text 6">
            <a:hlinkClick r:id="rId2" tooltip="DSH ReactLoopAgent"/>
          </p:cNvPr>
          <p:cNvSpPr/>
          <p:nvPr/>
        </p:nvSpPr>
        <p:spPr>
          <a:xfrm>
            <a:off x="1775765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DSH ReactLoop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S19 会话投影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23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2761488"/>
            <a:ext cx="2585466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889504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4088" y="3255264"/>
            <a:ext cx="23660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找什么证据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11830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399282" y="2761488"/>
            <a:ext cx="2585466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36442" y="2889504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09010" y="3255264"/>
            <a:ext cx="23660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读取官方仓库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016752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04204" y="2761488"/>
            <a:ext cx="2585466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41364" y="2889504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13932" y="3255264"/>
            <a:ext cx="23660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 / 报错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821674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009126" y="2761488"/>
            <a:ext cx="2585466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6286" y="2889504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118854" y="3255264"/>
            <a:ext cx="23660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 / 停止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0241280" y="4160520"/>
            <a:ext cx="0" cy="52120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 flipH="1">
            <a:off x="1874520" y="4681728"/>
            <a:ext cx="8366760" cy="0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28" name="Shape 25"/>
          <p:cNvSpPr/>
          <p:nvPr/>
        </p:nvSpPr>
        <p:spPr>
          <a:xfrm flipV="1">
            <a:off x="1874520" y="4160520"/>
            <a:ext cx="0" cy="52120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triangle"/>
          </a:ln>
        </p:spPr>
      </p:sp>
      <p:sp>
        <p:nvSpPr>
          <p:cNvPr id="29" name="Text 26"/>
          <p:cNvSpPr/>
          <p:nvPr/>
        </p:nvSpPr>
        <p:spPr>
          <a:xfrm>
            <a:off x="2743200" y="4782312"/>
            <a:ext cx="6858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反馈进入后续请求；完成、受阻或预算到达时停止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行动改变环境；观察改变下一次模型输入。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案例推演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能调用工具，还不足以可靠交付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失败可能出在信息、执行、连续性和验收四处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以下是故障注入情景，不是项目性能测量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23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" y="2468880"/>
            <a:ext cx="259918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3218688"/>
            <a:ext cx="2196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资料过期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95528" y="3886200"/>
            <a:ext cx="21968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有链接 ≠ 有证据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394710" y="2468880"/>
            <a:ext cx="259918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9587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95878" y="3218688"/>
            <a:ext cx="2196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环境缺失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595878" y="3886200"/>
            <a:ext cx="21968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有工具名 ≠ 能执行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195060" y="2468880"/>
            <a:ext cx="259918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962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96228" y="3218688"/>
            <a:ext cx="2196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任务中断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396228" y="3886200"/>
            <a:ext cx="21968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聊天记录 ≠ 恢复点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8995410" y="2468880"/>
            <a:ext cx="259918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9657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96578" y="3218688"/>
            <a:ext cx="2196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验收遗漏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196578" y="3886200"/>
            <a:ext cx="21968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能构建 ≠ 能交付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先定位失败发生在哪一层，再决定修模型、流程还是环境。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架构归纳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Harness 承载循环，也管理运行边界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模型提出行动；Harness 决定怎样执行和记录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示意架构｜Harness 与 Agent Loop 存在包含和重叠关系</a:t>
            </a:r>
            <a:endParaRPr lang="en-US" sz="900" dirty="0"/>
          </a:p>
        </p:txBody>
      </p:sp>
      <p:sp>
        <p:nvSpPr>
          <p:cNvPr id="7" name="Text 5">
            <a:hlinkClick r:id="rId1" tooltip="Unlocking the Codex harness"/>
          </p:cNvPr>
          <p:cNvSpPr/>
          <p:nvPr/>
        </p:nvSpPr>
        <p:spPr>
          <a:xfrm>
            <a:off x="621792" y="6455664"/>
            <a:ext cx="12216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Unlocking the Codex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Codex harness</a:t>
            </a:r>
            <a:endParaRPr lang="en-US" sz="750" dirty="0"/>
          </a:p>
        </p:txBody>
      </p:sp>
      <p:sp>
        <p:nvSpPr>
          <p:cNvPr id="8" name="Text 6">
            <a:hlinkClick r:id="rId2" tooltip="Codex ToolOrchestrator"/>
          </p:cNvPr>
          <p:cNvSpPr/>
          <p:nvPr/>
        </p:nvSpPr>
        <p:spPr>
          <a:xfrm>
            <a:off x="1962302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Codex ToolOrchestrat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 工具策略</a:t>
            </a:r>
            <a:endParaRPr lang="en-US" sz="750" dirty="0"/>
          </a:p>
        </p:txBody>
      </p:sp>
      <p:sp>
        <p:nvSpPr>
          <p:cNvPr id="9" name="Text 7">
            <a:hlinkClick r:id="rId3" tooltip="DSH architecture"/>
          </p:cNvPr>
          <p:cNvSpPr/>
          <p:nvPr/>
        </p:nvSpPr>
        <p:spPr>
          <a:xfrm>
            <a:off x="2743200" y="6455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DSH architectu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S04 DSH 架构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313432"/>
            <a:ext cx="8339328" cy="2788920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2468880"/>
            <a:ext cx="2788920" cy="393192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2505456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HARNESS · 运行边界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5528" y="3118104"/>
            <a:ext cx="3520440" cy="9144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5528" y="3118104"/>
            <a:ext cx="41148" cy="914400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8408" y="32369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Loop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78408" y="36941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模型决策 ↔ 工具反馈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08576" y="3118104"/>
            <a:ext cx="4105656" cy="9144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08576" y="3118104"/>
            <a:ext cx="41148" cy="914400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91456" y="3236976"/>
            <a:ext cx="3739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 / 权限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791456" y="3694176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执行政策 · 沙箱 · 错误返回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343400" y="3584448"/>
            <a:ext cx="219456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960120" y="4443984"/>
            <a:ext cx="7424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会话与日志     上下文管理     任务状态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9198864" y="2313432"/>
            <a:ext cx="2395728" cy="278892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98864" y="2313432"/>
            <a:ext cx="41148" cy="2788920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81744" y="2432304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应用验收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381744" y="2889504"/>
            <a:ext cx="20299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来源核查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结构校验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渲染目检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961120" y="3749040"/>
            <a:ext cx="201168" cy="0"/>
          </a:xfrm>
          <a:prstGeom prst="line">
            <a:avLst/>
          </a:prstGeom>
          <a:noFill/>
          <a:ln w="19050">
            <a:solidFill>
              <a:srgbClr val="F5C879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Harness 提高可控性；内容可信度还需要应用自己的验收。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 / 运行控制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 把循环、工具策略和会话接在一起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run_turn 到 ToolOrchestrator，再把反馈写回会话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官方事实 + 简化调用关系｜省略内部模块，不是完整调用图</a:t>
            </a:r>
            <a:endParaRPr lang="en-US" sz="900" dirty="0"/>
          </a:p>
        </p:txBody>
      </p:sp>
      <p:sp>
        <p:nvSpPr>
          <p:cNvPr id="7" name="Text 5">
            <a:hlinkClick r:id="rId1" tooltip="Codex run_turn"/>
          </p:cNvPr>
          <p:cNvSpPr/>
          <p:nvPr/>
        </p:nvSpPr>
        <p:spPr>
          <a:xfrm>
            <a:off x="62179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Codex run_tur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Codex loop</a:t>
            </a:r>
            <a:endParaRPr lang="en-US" sz="750" dirty="0"/>
          </a:p>
        </p:txBody>
      </p:sp>
      <p:sp>
        <p:nvSpPr>
          <p:cNvPr id="8" name="Text 6">
            <a:hlinkClick r:id="rId2" tooltip="Codex ToolOrchestrator"/>
          </p:cNvPr>
          <p:cNvSpPr/>
          <p:nvPr/>
        </p:nvSpPr>
        <p:spPr>
          <a:xfrm>
            <a:off x="1775765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Codex ToolOrchestrat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 工具策略</a:t>
            </a:r>
            <a:endParaRPr lang="en-US" sz="750" dirty="0"/>
          </a:p>
        </p:txBody>
      </p:sp>
      <p:sp>
        <p:nvSpPr>
          <p:cNvPr id="9" name="Text 7">
            <a:hlinkClick r:id="rId3" tooltip="Unlocking the Codex harness"/>
          </p:cNvPr>
          <p:cNvSpPr/>
          <p:nvPr/>
        </p:nvSpPr>
        <p:spPr>
          <a:xfrm>
            <a:off x="2556662" y="6455664"/>
            <a:ext cx="12216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Unlocking the Codex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Codex harness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286000"/>
            <a:ext cx="8019288" cy="393192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322576"/>
            <a:ext cx="7781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客户端 / App Server · 线程、轮次、事件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" y="2953512"/>
            <a:ext cx="3273552" cy="12893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2953512"/>
            <a:ext cx="41148" cy="1289304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07238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run_turn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7240" y="3529584"/>
            <a:ext cx="29077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组装请求 / 判断是否继续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52544" y="2953512"/>
            <a:ext cx="3456432" cy="12893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2544" y="2953512"/>
            <a:ext cx="41148" cy="1289304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35424" y="3072384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工具执行编排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35424" y="3529584"/>
            <a:ext cx="3090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 / 沙箱 / 错误重试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293608" y="2953512"/>
            <a:ext cx="3300984" cy="12893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93608" y="2953512"/>
            <a:ext cx="41148" cy="1289304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76488" y="3072384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执行环境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476488" y="3529584"/>
            <a:ext cx="29352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 / Shell / 外部能力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913632" y="3584448"/>
            <a:ext cx="3840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854696" y="3584448"/>
            <a:ext cx="3840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966960" y="4297680"/>
            <a:ext cx="0" cy="512064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 flipH="1">
            <a:off x="2103120" y="4809744"/>
            <a:ext cx="7863840" cy="0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30" name="Shape 27"/>
          <p:cNvSpPr/>
          <p:nvPr/>
        </p:nvSpPr>
        <p:spPr>
          <a:xfrm flipV="1">
            <a:off x="2103120" y="4297680"/>
            <a:ext cx="0" cy="512064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2743200" y="4882896"/>
            <a:ext cx="6675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工具输出 / 错误 → 会话记录 → 后续模型请求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开源的是 Harness 与集成层；不要据此推断模型权重开放。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架构归纳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Tool、MCP、Skill 各自补上不同的一环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 提供动作；MCP 连接能力；Skill 组织做事方法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 ai-tech-talk：研究规范 + 讲解规则 + 构建脚本</a:t>
            </a:r>
            <a:endParaRPr lang="en-US" sz="900" dirty="0"/>
          </a:p>
        </p:txBody>
      </p:sp>
      <p:sp>
        <p:nvSpPr>
          <p:cNvPr id="7" name="Text 5">
            <a:hlinkClick r:id="rId1" tooltip="Build skills"/>
          </p:cNvPr>
          <p:cNvSpPr/>
          <p:nvPr/>
        </p:nvSpPr>
        <p:spPr>
          <a:xfrm>
            <a:off x="621792" y="6455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Build skil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S09 Skills</a:t>
            </a:r>
            <a:endParaRPr lang="en-US" sz="750" dirty="0"/>
          </a:p>
        </p:txBody>
      </p:sp>
      <p:sp>
        <p:nvSpPr>
          <p:cNvPr id="8" name="Text 6">
            <a:hlinkClick r:id="rId2" tooltip="Unlocking the Codex harness"/>
          </p:cNvPr>
          <p:cNvSpPr/>
          <p:nvPr/>
        </p:nvSpPr>
        <p:spPr>
          <a:xfrm>
            <a:off x="1527048" y="6455664"/>
            <a:ext cx="12216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Unlocking the Codex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Codex harness</a:t>
            </a:r>
            <a:endParaRPr lang="en-US" sz="750" dirty="0"/>
          </a:p>
        </p:txBody>
      </p:sp>
      <p:sp>
        <p:nvSpPr>
          <p:cNvPr id="9" name="Text 7">
            <a:hlinkClick r:id="rId3" tooltip="DSH guarded tools"/>
          </p:cNvPr>
          <p:cNvSpPr/>
          <p:nvPr/>
        </p:nvSpPr>
        <p:spPr>
          <a:xfrm>
            <a:off x="2867558" y="6455664"/>
            <a:ext cx="9107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DSH guarded too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S21 工具 guard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5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 · 动作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55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 / 搜索 / 渲染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955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具体输入和输出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281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93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293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· 连接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5293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对接外部工具与资源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5293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协议与服务边界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619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631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631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· 方法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2631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怎样研究与验收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2631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 + 脚本 + 参考资料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“装了 Skill”不是质量证书，执行与验收仍要有证据。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DSH / 插件组合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DSH 用 Cordis 把运行能力组合成插件树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模型适配、工具、会话与 Agent Loop 都有替换接缝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官方架构的简化图｜官网仍标注预览版</a:t>
            </a:r>
            <a:endParaRPr lang="en-US" sz="900" dirty="0"/>
          </a:p>
        </p:txBody>
      </p:sp>
      <p:sp>
        <p:nvSpPr>
          <p:cNvPr id="7" name="Text 5">
            <a:hlinkClick r:id="rId1" tooltip="DeepSeek Harness 官网"/>
          </p:cNvPr>
          <p:cNvSpPr/>
          <p:nvPr/>
        </p:nvSpPr>
        <p:spPr>
          <a:xfrm>
            <a:off x="621792" y="6455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DeepSeek Harness 官网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S03 DSH 官网</a:t>
            </a:r>
            <a:endParaRPr lang="en-US" sz="750" dirty="0"/>
          </a:p>
        </p:txBody>
      </p:sp>
      <p:sp>
        <p:nvSpPr>
          <p:cNvPr id="8" name="Text 6">
            <a:hlinkClick r:id="rId2" tooltip="DSH architecture"/>
          </p:cNvPr>
          <p:cNvSpPr/>
          <p:nvPr/>
        </p:nvSpPr>
        <p:spPr>
          <a:xfrm>
            <a:off x="1527048" y="6455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DSH architectu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S04 DSH 架构</a:t>
            </a:r>
            <a:endParaRPr lang="en-US" sz="750" dirty="0"/>
          </a:p>
        </p:txBody>
      </p:sp>
      <p:sp>
        <p:nvSpPr>
          <p:cNvPr id="9" name="Text 7">
            <a:hlinkClick r:id="rId3" tooltip="DSH AgentLoop service"/>
          </p:cNvPr>
          <p:cNvSpPr/>
          <p:nvPr/>
        </p:nvSpPr>
        <p:spPr>
          <a:xfrm>
            <a:off x="2432304" y="6455664"/>
            <a:ext cx="972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DSH AgentLoop servi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S16 AgentLoop</a:t>
            </a:r>
            <a:endParaRPr lang="en-US" sz="750" dirty="0"/>
          </a:p>
        </p:txBody>
      </p:sp>
      <p:sp>
        <p:nvSpPr>
          <p:cNvPr id="10" name="Text 8">
            <a:hlinkClick r:id="rId4" tooltip="DSH ReactLoopAgent"/>
          </p:cNvPr>
          <p:cNvSpPr/>
          <p:nvPr/>
        </p:nvSpPr>
        <p:spPr>
          <a:xfrm>
            <a:off x="3524098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DSH ReactLoop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S19 会话投影</a:t>
            </a:r>
            <a:endParaRPr lang="en-US" sz="750" dirty="0"/>
          </a:p>
        </p:txBody>
      </p:sp>
      <p:sp>
        <p:nvSpPr>
          <p:cNvPr id="11" name="Text 9">
            <a:hlinkClick r:id="rId5" tooltip="DSH guarded tools"/>
          </p:cNvPr>
          <p:cNvSpPr/>
          <p:nvPr/>
        </p:nvSpPr>
        <p:spPr>
          <a:xfrm>
            <a:off x="4304995" y="6455664"/>
            <a:ext cx="9107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5" invalidUrl="" action="" tgtFrame="" tooltip="DSH guarded too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S21 工具 guard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23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331720"/>
            <a:ext cx="11000232" cy="566928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4597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Profile = 有顺序的 bundles + patches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94360" y="3355848"/>
            <a:ext cx="2551176" cy="10789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3355848"/>
            <a:ext cx="41148" cy="1078992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4747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Loop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77240" y="39319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驱动决策与行动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410712" y="3355848"/>
            <a:ext cx="2551176" cy="10789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10712" y="3355848"/>
            <a:ext cx="41148" cy="1078992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93592" y="34747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adapter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593592" y="39319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模型消息与流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27064" y="3355848"/>
            <a:ext cx="2551176" cy="10789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27064" y="3355848"/>
            <a:ext cx="41148" cy="1078992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9944" y="34747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Tools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409944" y="39319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注册与执行策略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043416" y="3355848"/>
            <a:ext cx="2551176" cy="10789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043416" y="3355848"/>
            <a:ext cx="41148" cy="1078992"/>
          </a:xfrm>
          <a:prstGeom prst="rect">
            <a:avLst/>
          </a:prstGeom>
          <a:solidFill>
            <a:srgbClr val="B6AEFF"/>
          </a:solidFill>
          <a:ln w="10160">
            <a:solidFill>
              <a:srgbClr val="B6AE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226296" y="34747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9226296" y="39319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事件日志与投影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94360" y="4709160"/>
            <a:ext cx="11000232" cy="402336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3816" y="47731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CORDIS   ·   services  /  events  /  reversible effects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865376" y="4462272"/>
            <a:ext cx="0" cy="20116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35" name="Shape 32"/>
          <p:cNvSpPr/>
          <p:nvPr/>
        </p:nvSpPr>
        <p:spPr>
          <a:xfrm>
            <a:off x="4681728" y="4462272"/>
            <a:ext cx="0" cy="20116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36" name="Shape 33"/>
          <p:cNvSpPr/>
          <p:nvPr/>
        </p:nvSpPr>
        <p:spPr>
          <a:xfrm>
            <a:off x="7498080" y="4462272"/>
            <a:ext cx="0" cy="20116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37" name="Shape 34"/>
          <p:cNvSpPr/>
          <p:nvPr/>
        </p:nvSpPr>
        <p:spPr>
          <a:xfrm>
            <a:off x="10314432" y="4462272"/>
            <a:ext cx="0" cy="20116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38" name="Shape 35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源码观察：AgentLoop extends Service；插件化不等于免测试。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 / 持久状态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 把恢复建立在线程状态之上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Graph State → Checkpoint → 同一 thread 继续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示意架构｜必须选择持久后端；进程内 saver 重启会丢失</a:t>
            </a:r>
            <a:endParaRPr lang="en-US" sz="900" dirty="0"/>
          </a:p>
        </p:txBody>
      </p:sp>
      <p:sp>
        <p:nvSpPr>
          <p:cNvPr id="7" name="Text 5">
            <a:hlinkClick r:id="rId1" tooltip="LangGraph Persistence"/>
          </p:cNvPr>
          <p:cNvSpPr/>
          <p:nvPr/>
        </p:nvSpPr>
        <p:spPr>
          <a:xfrm>
            <a:off x="62179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LangGraph Persisten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S05 Persistence</a:t>
            </a:r>
            <a:endParaRPr lang="en-US" sz="750" dirty="0"/>
          </a:p>
        </p:txBody>
      </p:sp>
      <p:sp>
        <p:nvSpPr>
          <p:cNvPr id="8" name="Text 6">
            <a:hlinkClick r:id="rId2" tooltip="LangGraph StateGraph.compile"/>
          </p:cNvPr>
          <p:cNvSpPr/>
          <p:nvPr/>
        </p:nvSpPr>
        <p:spPr>
          <a:xfrm>
            <a:off x="1837944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LangGraph StateGraph.compi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S12 StateGraph</a:t>
            </a:r>
            <a:endParaRPr lang="en-US" sz="750" dirty="0"/>
          </a:p>
        </p:txBody>
      </p:sp>
      <p:sp>
        <p:nvSpPr>
          <p:cNvPr id="9" name="Text 7">
            <a:hlinkClick r:id="rId3" tooltip="LangGraph BaseCheckpointSaver"/>
          </p:cNvPr>
          <p:cNvSpPr/>
          <p:nvPr/>
        </p:nvSpPr>
        <p:spPr>
          <a:xfrm>
            <a:off x="2991917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LangGraph BaseCheckpointSav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S13 Checkpoint</a:t>
            </a:r>
            <a:endParaRPr lang="en-US" sz="750" dirty="0"/>
          </a:p>
        </p:txBody>
      </p:sp>
      <p:sp>
        <p:nvSpPr>
          <p:cNvPr id="10" name="Text 8">
            <a:hlinkClick r:id="rId4" tooltip="LangGraph BaseStore"/>
          </p:cNvPr>
          <p:cNvSpPr/>
          <p:nvPr/>
        </p:nvSpPr>
        <p:spPr>
          <a:xfrm>
            <a:off x="4145890" y="6455664"/>
            <a:ext cx="724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LangGraph BaseSto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Store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23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" y="2459736"/>
            <a:ext cx="2404872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2459736"/>
            <a:ext cx="41148" cy="1051560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25786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7240" y="30358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来源与候选结论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529584" y="2459736"/>
            <a:ext cx="2404872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29584" y="2459736"/>
            <a:ext cx="41148" cy="1051560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12464" y="25786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核查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712464" y="30358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已核 / 待核 / 不确定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64808" y="2459736"/>
            <a:ext cx="2404872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64808" y="2459736"/>
            <a:ext cx="41148" cy="1051560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47688" y="25786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647688" y="30358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文件路径与待办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035808" y="2971800"/>
            <a:ext cx="438912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971032" y="2971800"/>
            <a:ext cx="438912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390888" y="2459736"/>
            <a:ext cx="2203704" cy="258775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90888" y="2459736"/>
            <a:ext cx="41148" cy="2587752"/>
          </a:xfrm>
          <a:prstGeom prst="rect">
            <a:avLst/>
          </a:prstGeom>
          <a:solidFill>
            <a:srgbClr val="B6AEFF"/>
          </a:solidFill>
          <a:ln w="10160">
            <a:solidFill>
              <a:srgbClr val="B6AE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73768" y="2578608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9573768" y="3035808"/>
            <a:ext cx="183794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 thread_id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找回保存状态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94360" y="3931920"/>
            <a:ext cx="8275320" cy="1115568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5528" y="40690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Checkpointer · 当前 thread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795528" y="4590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保存状态与进度；需要持久后端才能跨进程保留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792224" y="3547872"/>
            <a:ext cx="0" cy="329184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4727448" y="3547872"/>
            <a:ext cx="0" cy="329184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7662672" y="3547872"/>
            <a:ext cx="0" cy="329184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8915400" y="4498848"/>
            <a:ext cx="429768" cy="0"/>
          </a:xfrm>
          <a:prstGeom prst="line">
            <a:avLst/>
          </a:prstGeom>
          <a:noFill/>
          <a:ln w="19050">
            <a:solidFill>
              <a:srgbClr val="9DE2BC"/>
            </a:solidFill>
            <a:prstDash val="solid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Checkpoint 解决“接着做到哪”；Store 解决“别的任务也能用什么”。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OPENHANDS / 执行部署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OpenHands 把 Agent 行为与执行部署分开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Conversation 选择本地或远程；工具在选定环境运行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 SDK 简化图｜LocalWorkspace 不自动隔离宿主机</a:t>
            </a:r>
            <a:endParaRPr lang="en-US" sz="900" dirty="0"/>
          </a:p>
        </p:txBody>
      </p:sp>
      <p:sp>
        <p:nvSpPr>
          <p:cNvPr id="7" name="Text 5">
            <a:hlinkClick r:id="rId1" tooltip="OpenHands SDK architecture"/>
          </p:cNvPr>
          <p:cNvSpPr/>
          <p:nvPr/>
        </p:nvSpPr>
        <p:spPr>
          <a:xfrm>
            <a:off x="621792" y="6455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OpenHands SDK architectu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S07 SDK 架构</a:t>
            </a:r>
            <a:endParaRPr lang="en-US" sz="750" dirty="0"/>
          </a:p>
        </p:txBody>
      </p:sp>
      <p:sp>
        <p:nvSpPr>
          <p:cNvPr id="8" name="Text 6">
            <a:hlinkClick r:id="rId2" tooltip="OpenHands Agent.step"/>
          </p:cNvPr>
          <p:cNvSpPr/>
          <p:nvPr/>
        </p:nvSpPr>
        <p:spPr>
          <a:xfrm>
            <a:off x="1527048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OpenHands Agent.ste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S14 Agent.step</a:t>
            </a:r>
            <a:endParaRPr lang="en-US" sz="750" dirty="0"/>
          </a:p>
        </p:txBody>
      </p:sp>
      <p:sp>
        <p:nvSpPr>
          <p:cNvPr id="9" name="Text 7">
            <a:hlinkClick r:id="rId3" tooltip="OpenHands Conversation factory"/>
          </p:cNvPr>
          <p:cNvSpPr/>
          <p:nvPr/>
        </p:nvSpPr>
        <p:spPr>
          <a:xfrm>
            <a:off x="2681021" y="6455664"/>
            <a:ext cx="11594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OpenHands Conversation fac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S17 Conversation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432304"/>
            <a:ext cx="3776472" cy="1133856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432304"/>
            <a:ext cx="41148" cy="1133856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551176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+ Conversation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7240" y="3008376"/>
            <a:ext cx="3410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 / 事件 / 会话状态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07408" y="3008376"/>
            <a:ext cx="3840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846320" y="2267712"/>
            <a:ext cx="6748272" cy="1252728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46320" y="2267712"/>
            <a:ext cx="41148" cy="125272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2386584"/>
            <a:ext cx="6382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LocalWorkspace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029200" y="2843784"/>
            <a:ext cx="63825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本地进程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工具在本地环境运行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46320" y="3840480"/>
            <a:ext cx="6748272" cy="1252728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46320" y="3840480"/>
            <a:ext cx="41148" cy="1252728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3959352"/>
            <a:ext cx="6382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RemoteWorkspace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029200" y="4416552"/>
            <a:ext cx="63825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远程 Conversation → Agent 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与工具在远程环境运行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89704" y="3017520"/>
            <a:ext cx="0" cy="1453896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4489704" y="4471416"/>
            <a:ext cx="301752" cy="0"/>
          </a:xfrm>
          <a:prstGeom prst="line">
            <a:avLst/>
          </a:prstGeom>
          <a:noFill/>
          <a:ln w="19050">
            <a:solidFill>
              <a:srgbClr val="9DE2BC"/>
            </a:solidFill>
            <a:prstDash val="solid"/>
            <a:headEnd type="non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832104" y="4160520"/>
            <a:ext cx="32644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工厂按 workspace 类型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选择实现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本地模式与远程模式是部署选择；隔离效果取决于实际配置。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设计取舍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四个项目提供的是不同的设计抓手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先问自己缺什么，再选择要借用哪一层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架构归纳｜能力有重叠，可组合，不是四选一或性能榜单</a:t>
            </a:r>
            <a:endParaRPr lang="en-US" sz="900" dirty="0"/>
          </a:p>
        </p:txBody>
      </p:sp>
      <p:sp>
        <p:nvSpPr>
          <p:cNvPr id="7" name="Text 5">
            <a:hlinkClick r:id="rId1" tooltip="Codex run_turn"/>
          </p:cNvPr>
          <p:cNvSpPr/>
          <p:nvPr/>
        </p:nvSpPr>
        <p:spPr>
          <a:xfrm>
            <a:off x="62179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Codex run_tur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Codex loop</a:t>
            </a:r>
            <a:endParaRPr lang="en-US" sz="750" dirty="0"/>
          </a:p>
        </p:txBody>
      </p:sp>
      <p:sp>
        <p:nvSpPr>
          <p:cNvPr id="8" name="Text 6">
            <a:hlinkClick r:id="rId2" tooltip="Codex ToolOrchestrator"/>
          </p:cNvPr>
          <p:cNvSpPr/>
          <p:nvPr/>
        </p:nvSpPr>
        <p:spPr>
          <a:xfrm>
            <a:off x="1775765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Codex ToolOrchestrat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 工具策略</a:t>
            </a:r>
            <a:endParaRPr lang="en-US" sz="750" dirty="0"/>
          </a:p>
        </p:txBody>
      </p:sp>
      <p:sp>
        <p:nvSpPr>
          <p:cNvPr id="9" name="Text 7">
            <a:hlinkClick r:id="rId3" tooltip="DSH architecture"/>
          </p:cNvPr>
          <p:cNvSpPr/>
          <p:nvPr/>
        </p:nvSpPr>
        <p:spPr>
          <a:xfrm>
            <a:off x="2556662" y="6455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DSH architectu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S04 DSH 架构</a:t>
            </a:r>
            <a:endParaRPr lang="en-US" sz="750" dirty="0"/>
          </a:p>
        </p:txBody>
      </p:sp>
      <p:sp>
        <p:nvSpPr>
          <p:cNvPr id="10" name="Text 8">
            <a:hlinkClick r:id="rId4" tooltip="LangGraph StateGraph.compile"/>
          </p:cNvPr>
          <p:cNvSpPr/>
          <p:nvPr/>
        </p:nvSpPr>
        <p:spPr>
          <a:xfrm>
            <a:off x="3461918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LangGraph StateGraph.compi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S12 StateGraph</a:t>
            </a:r>
            <a:endParaRPr lang="en-US" sz="750" dirty="0"/>
          </a:p>
        </p:txBody>
      </p:sp>
      <p:sp>
        <p:nvSpPr>
          <p:cNvPr id="11" name="Text 9">
            <a:hlinkClick r:id="rId5" tooltip="LangGraph BaseCheckpointSaver"/>
          </p:cNvPr>
          <p:cNvSpPr/>
          <p:nvPr/>
        </p:nvSpPr>
        <p:spPr>
          <a:xfrm>
            <a:off x="4615891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5" invalidUrl="" action="" tgtFrame="" tooltip="LangGraph BaseCheckpointSav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S13 Checkpoint</a:t>
            </a:r>
            <a:endParaRPr lang="en-US" sz="750" dirty="0"/>
          </a:p>
        </p:txBody>
      </p:sp>
      <p:sp>
        <p:nvSpPr>
          <p:cNvPr id="12" name="Text 10">
            <a:hlinkClick r:id="rId6" tooltip="OpenHands Conversation factory"/>
          </p:cNvPr>
          <p:cNvSpPr/>
          <p:nvPr/>
        </p:nvSpPr>
        <p:spPr>
          <a:xfrm>
            <a:off x="5769864" y="6455664"/>
            <a:ext cx="11594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6" invalidUrl="" action="" tgtFrame="" tooltip="OpenHands Conversation fac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S17 Conversation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23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" y="2386584"/>
            <a:ext cx="11000232" cy="60350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" y="2478024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724912" y="2478024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怎样可控地运行任务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39712" y="2478024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循环、工具政策、线程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94360" y="3090672"/>
            <a:ext cx="11000232" cy="6035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" y="3182112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DSH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2724912" y="3182112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怎样替换和组合能力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39712" y="3182112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Cordis 服务、事件、profile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94360" y="3794760"/>
            <a:ext cx="11000232" cy="60350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" y="38862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2724912" y="3886200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怎样保存与恢复进度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39712" y="3886200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Graph / Checkpointer / Store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94360" y="4498848"/>
            <a:ext cx="11000232" cy="6035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8952" y="459028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OpenHands SDK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2724912" y="4590288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怎样部署软件 Agent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839712" y="4590288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Conversation / Workspace / Server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比较维度：运行控制、扩展接缝、持久状态、执行环境。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架构归纳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上下文工程决定这一轮模型拿到哪些信息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把任务目标、相关证据和当前进度组装成有效输入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示意流程｜不是把所有历史都塞进窗口</a:t>
            </a:r>
            <a:endParaRPr lang="en-US" sz="900" dirty="0"/>
          </a:p>
        </p:txBody>
      </p:sp>
      <p:sp>
        <p:nvSpPr>
          <p:cNvPr id="7" name="Text 5">
            <a:hlinkClick r:id="rId1" tooltip="Effective context engineering"/>
          </p:cNvPr>
          <p:cNvSpPr/>
          <p:nvPr/>
        </p:nvSpPr>
        <p:spPr>
          <a:xfrm>
            <a:off x="621792" y="6455664"/>
            <a:ext cx="724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Effective context engineer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S06 上下文工程</a:t>
            </a:r>
            <a:endParaRPr lang="en-US" sz="750" dirty="0"/>
          </a:p>
        </p:txBody>
      </p:sp>
      <p:sp>
        <p:nvSpPr>
          <p:cNvPr id="8" name="Text 6">
            <a:hlinkClick r:id="rId2" tooltip="OpenHands Agent.step"/>
          </p:cNvPr>
          <p:cNvSpPr/>
          <p:nvPr/>
        </p:nvSpPr>
        <p:spPr>
          <a:xfrm>
            <a:off x="1464869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OpenHands Agent.ste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S14 Agent.step</a:t>
            </a:r>
            <a:endParaRPr lang="en-US" sz="750" dirty="0"/>
          </a:p>
        </p:txBody>
      </p:sp>
      <p:sp>
        <p:nvSpPr>
          <p:cNvPr id="9" name="Text 7">
            <a:hlinkClick r:id="rId3" tooltip="DSH ReactLoopAgent"/>
          </p:cNvPr>
          <p:cNvSpPr/>
          <p:nvPr/>
        </p:nvSpPr>
        <p:spPr>
          <a:xfrm>
            <a:off x="2618842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DSH ReactLoop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S19 会话投影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/ 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761488"/>
            <a:ext cx="202448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889504"/>
            <a:ext cx="1750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4088" y="3255264"/>
            <a:ext cx="18050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选相关证据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650846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838298" y="2761488"/>
            <a:ext cx="202448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75458" y="2889504"/>
            <a:ext cx="1750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948026" y="3255264"/>
            <a:ext cx="18050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检索原文片段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4894783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082235" y="2761488"/>
            <a:ext cx="202448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9395" y="2889504"/>
            <a:ext cx="1750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91963" y="3255264"/>
            <a:ext cx="18050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组装当前输入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138721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326173" y="2761488"/>
            <a:ext cx="202448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63333" y="2889504"/>
            <a:ext cx="1750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35901" y="3255264"/>
            <a:ext cx="18050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压缩冗余历史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9382658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570110" y="2761488"/>
            <a:ext cx="202448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07270" y="2889504"/>
            <a:ext cx="1750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679838" y="3255264"/>
            <a:ext cx="18050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保留回查路径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本例：写 checkpoint 页，只带恢复机制的证据与边界。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架构归纳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Context、State、Memory 是三个观察视角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本轮输入｜任务记录｜可复用保留信息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教学区分｜可重叠；State 里的值也可能记录错</a:t>
            </a:r>
            <a:endParaRPr lang="en-US" sz="900" dirty="0"/>
          </a:p>
        </p:txBody>
      </p:sp>
      <p:sp>
        <p:nvSpPr>
          <p:cNvPr id="7" name="Text 5">
            <a:hlinkClick r:id="rId1" tooltip="LangGraph BaseCheckpointSaver"/>
          </p:cNvPr>
          <p:cNvSpPr/>
          <p:nvPr/>
        </p:nvSpPr>
        <p:spPr>
          <a:xfrm>
            <a:off x="62179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LangGraph BaseCheckpointSav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S13 Checkpoint</a:t>
            </a:r>
            <a:endParaRPr lang="en-US" sz="750" dirty="0"/>
          </a:p>
        </p:txBody>
      </p:sp>
      <p:sp>
        <p:nvSpPr>
          <p:cNvPr id="8" name="Text 6">
            <a:hlinkClick r:id="rId2" tooltip="LangGraph BaseStore"/>
          </p:cNvPr>
          <p:cNvSpPr/>
          <p:nvPr/>
        </p:nvSpPr>
        <p:spPr>
          <a:xfrm>
            <a:off x="1775765" y="6455664"/>
            <a:ext cx="724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LangGraph BaseSto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Store</a:t>
            </a:r>
            <a:endParaRPr lang="en-US" sz="750" dirty="0"/>
          </a:p>
        </p:txBody>
      </p:sp>
      <p:sp>
        <p:nvSpPr>
          <p:cNvPr id="9" name="Text 7">
            <a:hlinkClick r:id="rId3" tooltip="OpenHands Agent.step"/>
          </p:cNvPr>
          <p:cNvSpPr/>
          <p:nvPr/>
        </p:nvSpPr>
        <p:spPr>
          <a:xfrm>
            <a:off x="261884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OpenHands Agent.ste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S14 Agent.step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/ 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5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· 现在看见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55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这一轮的模型输入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955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当前源码片段 + 指令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281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93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293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State · 当前记录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5293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工作流保存的状态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5293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页数 / 待核事实 / 文件路径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619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631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631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· 留作复用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2631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跨时间保留的信息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2631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听众偏好 / 已验证经验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窗口容量、状态持久化、记忆质量，是三个不同问题。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记忆要经过写入筛选，也要能失效纠错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候选信息 → 验证与定界 → 保存 → 检索 → 更新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示意设计｜不是 LangGraph Store 默认提供的完整记忆策略</a:t>
            </a:r>
            <a:endParaRPr lang="en-US" sz="900" dirty="0"/>
          </a:p>
        </p:txBody>
      </p:sp>
      <p:sp>
        <p:nvSpPr>
          <p:cNvPr id="7" name="Text 5">
            <a:hlinkClick r:id="rId1" tooltip="LangGraph BaseStore"/>
          </p:cNvPr>
          <p:cNvSpPr/>
          <p:nvPr/>
        </p:nvSpPr>
        <p:spPr>
          <a:xfrm>
            <a:off x="621792" y="6455664"/>
            <a:ext cx="724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LangGraph BaseSto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Store</a:t>
            </a:r>
            <a:endParaRPr lang="en-US" sz="750" dirty="0"/>
          </a:p>
        </p:txBody>
      </p:sp>
      <p:sp>
        <p:nvSpPr>
          <p:cNvPr id="8" name="Text 6">
            <a:hlinkClick r:id="rId2" tooltip="LangGraph BaseCheckpointSaver"/>
          </p:cNvPr>
          <p:cNvSpPr/>
          <p:nvPr/>
        </p:nvSpPr>
        <p:spPr>
          <a:xfrm>
            <a:off x="1464869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LangGraph BaseCheckpointSav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S13 Checkpoint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/ 23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11000232" cy="86868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331720"/>
            <a:ext cx="41148" cy="868680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450592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State → Checkpoint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2907792"/>
            <a:ext cx="10634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当前任务：已核结论 / 待办 / 文件位置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3602736"/>
            <a:ext cx="2523744" cy="11430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602736"/>
            <a:ext cx="41148" cy="1143000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721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77240" y="41788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 / 经历 / 方法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163824" y="4178808"/>
            <a:ext cx="20116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419856" y="3602736"/>
            <a:ext cx="2523744" cy="11430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19856" y="3602736"/>
            <a:ext cx="41148" cy="1143000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02736" y="3721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写入筛选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602736" y="41788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 / 范围 / 版本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989320" y="4178808"/>
            <a:ext cx="20116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245352" y="3602736"/>
            <a:ext cx="2523744" cy="11430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5352" y="3602736"/>
            <a:ext cx="41148" cy="1143000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28232" y="3721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Store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428232" y="41788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 namespace 保存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814816" y="4178808"/>
            <a:ext cx="20116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070848" y="3602736"/>
            <a:ext cx="2523744" cy="11430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70848" y="3602736"/>
            <a:ext cx="41148" cy="1143000"/>
          </a:xfrm>
          <a:prstGeom prst="rect">
            <a:avLst/>
          </a:prstGeom>
          <a:solidFill>
            <a:srgbClr val="B6AEFF"/>
          </a:solidFill>
          <a:ln w="10160">
            <a:solidFill>
              <a:srgbClr val="B6AE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253728" y="3721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检索到 Context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9253728" y="41788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与本轮任务相关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14400" y="499262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纠错 / 失效 / 复核：更新持久记录，再让后续检索生效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先把“可信地记住与忘记”做好，再决定是否引入向量库。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案例推演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把错误写成长期事实，会放大后续失误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例：把“内存 saver”误记为“重启可恢复”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故障注入示例｜官方文档明确指出内存 saver 的限制</a:t>
            </a:r>
            <a:endParaRPr lang="en-US" sz="900" dirty="0"/>
          </a:p>
        </p:txBody>
      </p:sp>
      <p:sp>
        <p:nvSpPr>
          <p:cNvPr id="7" name="Text 5">
            <a:hlinkClick r:id="rId1" tooltip="LangGraph Persistence"/>
          </p:cNvPr>
          <p:cNvSpPr/>
          <p:nvPr/>
        </p:nvSpPr>
        <p:spPr>
          <a:xfrm>
            <a:off x="62179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LangGraph Persisten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S05 Persistence</a:t>
            </a:r>
            <a:endParaRPr lang="en-US" sz="750" dirty="0"/>
          </a:p>
        </p:txBody>
      </p:sp>
      <p:sp>
        <p:nvSpPr>
          <p:cNvPr id="8" name="Text 6">
            <a:hlinkClick r:id="rId2" tooltip="LangGraph BaseStore"/>
          </p:cNvPr>
          <p:cNvSpPr/>
          <p:nvPr/>
        </p:nvSpPr>
        <p:spPr>
          <a:xfrm>
            <a:off x="1837944" y="6455664"/>
            <a:ext cx="724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LangGraph BaseSto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Store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/ 23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55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错误记忆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955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 checkpoint 就不丢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955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未注明存储后端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281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93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293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核对证据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5293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InMemorySaver 在 RAM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5293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重启后不保留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0619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631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631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修正记录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2631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注明后端与适用范围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82631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旧条目失效并补回归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纠错要同时更新当前回答、持久记录和回归用例。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评测先对齐交付标准，再比较改动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用固定任务与独立验收，观察结果、成本和人工介入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本案例的评测设计｜阈值是建议，没有虚构实验成绩</a:t>
            </a:r>
            <a:endParaRPr lang="en-US" sz="900" dirty="0"/>
          </a:p>
        </p:txBody>
      </p:sp>
      <p:sp>
        <p:nvSpPr>
          <p:cNvPr id="7" name="Text 5">
            <a:hlinkClick r:id="rId1" tooltip="DGM outer loop"/>
          </p:cNvPr>
          <p:cNvSpPr/>
          <p:nvPr/>
        </p:nvSpPr>
        <p:spPr>
          <a:xfrm>
            <a:off x="621792" y="6455664"/>
            <a:ext cx="9107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DGM outer loo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S20 DGM loop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/ 23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" y="2386584"/>
            <a:ext cx="11000232" cy="60350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2478024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事实可追溯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724912" y="2478024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 → 官方原文 / commit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39712" y="2478024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人工核支持关系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4360" y="3090672"/>
            <a:ext cx="11000232" cy="6035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" y="3182112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结构可交付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724912" y="3182112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页数、备注、引用、文件完整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39712" y="3182112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 check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94360" y="3794760"/>
            <a:ext cx="11000232" cy="60350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38862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视觉可阅读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2724912" y="3886200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溢出、重叠、中文、对比度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839712" y="3886200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渲染 + 目检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4360" y="4498848"/>
            <a:ext cx="11000232" cy="6035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952" y="459028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运行成本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2724912" y="4590288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耗时、费用、人工介入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39712" y="4590288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固定环境记录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修改前后用相同任务比较；未见任务留到最后验收。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实际案例 / 验收路径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构建检查、事实审阅和视觉检查各有盲区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通过一项验收，不能替代另外两项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本次交付｜23 页已构建与渲染；详细检查结果见 QA.md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/ 23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 + check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55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 页 / 23 条讲者备注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955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文件结构与引用检查通过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281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93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293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claim → source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293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 项来源 / 5 个仓库提交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293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静态阅读，未部署四项目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619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631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631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render + 目检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2631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 页已渲染并逐页审阅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2631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现场软件兼容性仍未验证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事实出处、构建日志与渲染预览一起交付。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架构归纳 + 研究讨论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重试、记忆积累与自修改不是同一种进步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先分清改了任务结果、保留信息，还是 Agent 程序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RSI：递归自我改进；本页为教学分层，不是统一标准</a:t>
            </a:r>
            <a:endParaRPr lang="en-US" sz="900" dirty="0"/>
          </a:p>
        </p:txBody>
      </p:sp>
      <p:sp>
        <p:nvSpPr>
          <p:cNvPr id="7" name="Text 5">
            <a:hlinkClick r:id="rId1" tooltip="Codex run_turn"/>
          </p:cNvPr>
          <p:cNvSpPr/>
          <p:nvPr/>
        </p:nvSpPr>
        <p:spPr>
          <a:xfrm>
            <a:off x="62179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Codex run_tur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Codex loop</a:t>
            </a:r>
            <a:endParaRPr lang="en-US" sz="750" dirty="0"/>
          </a:p>
        </p:txBody>
      </p:sp>
      <p:sp>
        <p:nvSpPr>
          <p:cNvPr id="8" name="Text 6">
            <a:hlinkClick r:id="rId2" tooltip="LangGraph BaseStore"/>
          </p:cNvPr>
          <p:cNvSpPr/>
          <p:nvPr/>
        </p:nvSpPr>
        <p:spPr>
          <a:xfrm>
            <a:off x="1775765" y="6455664"/>
            <a:ext cx="724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LangGraph BaseSto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Store</a:t>
            </a:r>
            <a:endParaRPr lang="en-US" sz="750" dirty="0"/>
          </a:p>
        </p:txBody>
      </p:sp>
      <p:sp>
        <p:nvSpPr>
          <p:cNvPr id="9" name="Text 7">
            <a:hlinkClick r:id="rId3" tooltip="DGM outer loop"/>
          </p:cNvPr>
          <p:cNvSpPr/>
          <p:nvPr/>
        </p:nvSpPr>
        <p:spPr>
          <a:xfrm>
            <a:off x="2618842" y="6455664"/>
            <a:ext cx="9107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DGM outer loo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S20 DGM loop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 / 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5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任务内修正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55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换来源 / 修一页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955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目标产物变好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281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93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293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记忆积累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5293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保存偏好与教训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5293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后续输入可能改善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619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631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631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系统自修改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2631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改工具 / Agent 代码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2631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再评测后续改进能力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“自己改了代码”是现象；“持续可靠地变强”需要更强证据。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研究事实 + 边界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DGM 用编码评测筛查自修改的 Agent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从候选档案选父代 → 修改代码 → 评测 → 更新档案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研究案例｜不是数学证明，也没有在本次复现性能</a:t>
            </a:r>
            <a:endParaRPr lang="en-US" sz="900" dirty="0"/>
          </a:p>
        </p:txBody>
      </p:sp>
      <p:sp>
        <p:nvSpPr>
          <p:cNvPr id="7" name="Text 5">
            <a:hlinkClick r:id="rId1" tooltip="Darwin Gödel Machine paper"/>
          </p:cNvPr>
          <p:cNvSpPr/>
          <p:nvPr/>
        </p:nvSpPr>
        <p:spPr>
          <a:xfrm>
            <a:off x="621792" y="6455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Darwin Gödel Machine pap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S08 DGM 论文</a:t>
            </a:r>
            <a:endParaRPr lang="en-US" sz="750" dirty="0"/>
          </a:p>
        </p:txBody>
      </p:sp>
      <p:sp>
        <p:nvSpPr>
          <p:cNvPr id="8" name="Text 6">
            <a:hlinkClick r:id="rId2" tooltip="DGM authors README"/>
          </p:cNvPr>
          <p:cNvSpPr/>
          <p:nvPr/>
        </p:nvSpPr>
        <p:spPr>
          <a:xfrm>
            <a:off x="1527048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DGM authors READM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S15 DGM README</a:t>
            </a:r>
            <a:endParaRPr lang="en-US" sz="750" dirty="0"/>
          </a:p>
        </p:txBody>
      </p:sp>
      <p:sp>
        <p:nvSpPr>
          <p:cNvPr id="9" name="Text 7">
            <a:hlinkClick r:id="rId3" tooltip="DGM outer loop"/>
          </p:cNvPr>
          <p:cNvSpPr/>
          <p:nvPr/>
        </p:nvSpPr>
        <p:spPr>
          <a:xfrm>
            <a:off x="2681021" y="6455664"/>
            <a:ext cx="9107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DGM outer loo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S20 DGM loop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/ 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761488"/>
            <a:ext cx="202448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889504"/>
            <a:ext cx="1750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4088" y="3255264"/>
            <a:ext cx="18050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 Agent 档案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650846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838298" y="2761488"/>
            <a:ext cx="202448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75458" y="2889504"/>
            <a:ext cx="1750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948026" y="3255264"/>
            <a:ext cx="18050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选择父候选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4894783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082235" y="2761488"/>
            <a:ext cx="202448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9395" y="2889504"/>
            <a:ext cx="1750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91963" y="3255264"/>
            <a:ext cx="18050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生成代码改动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138721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326173" y="2761488"/>
            <a:ext cx="202448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63333" y="2889504"/>
            <a:ext cx="1750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35901" y="3255264"/>
            <a:ext cx="18050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编码任务评测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9382658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570110" y="2761488"/>
            <a:ext cx="2024482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07270" y="2889504"/>
            <a:ext cx="1750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679838" y="3255264"/>
            <a:ext cx="18050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更新候选档案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2103120" y="4590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多分支探索，不是每一代只保留一个冠军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经验评测能筛选候选；不足以保证开放环境中的无限递归改进。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关系总图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可靠改进来自多个闭环彼此连接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做事；Harness 承载；Context / Memory 供给；Eval 检验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示意架构｜跨项目归纳，非任一官方完整架构</a:t>
            </a:r>
            <a:endParaRPr lang="en-US" sz="900" dirty="0"/>
          </a:p>
        </p:txBody>
      </p:sp>
      <p:sp>
        <p:nvSpPr>
          <p:cNvPr id="7" name="Text 5">
            <a:hlinkClick r:id="rId1" tooltip="Codex run_turn"/>
          </p:cNvPr>
          <p:cNvSpPr/>
          <p:nvPr/>
        </p:nvSpPr>
        <p:spPr>
          <a:xfrm>
            <a:off x="62179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Codex run_tur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Codex loop</a:t>
            </a:r>
            <a:endParaRPr lang="en-US" sz="750" dirty="0"/>
          </a:p>
        </p:txBody>
      </p:sp>
      <p:sp>
        <p:nvSpPr>
          <p:cNvPr id="8" name="Text 6">
            <a:hlinkClick r:id="rId2" tooltip="Codex ToolOrchestrator"/>
          </p:cNvPr>
          <p:cNvSpPr/>
          <p:nvPr/>
        </p:nvSpPr>
        <p:spPr>
          <a:xfrm>
            <a:off x="1775765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Codex ToolOrchestrat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 工具策略</a:t>
            </a:r>
            <a:endParaRPr lang="en-US" sz="750" dirty="0"/>
          </a:p>
        </p:txBody>
      </p:sp>
      <p:sp>
        <p:nvSpPr>
          <p:cNvPr id="9" name="Text 7">
            <a:hlinkClick r:id="rId3" tooltip="LangGraph BaseCheckpointSaver"/>
          </p:cNvPr>
          <p:cNvSpPr/>
          <p:nvPr/>
        </p:nvSpPr>
        <p:spPr>
          <a:xfrm>
            <a:off x="255666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LangGraph BaseCheckpointSav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S13 Checkpoint</a:t>
            </a:r>
            <a:endParaRPr lang="en-US" sz="750" dirty="0"/>
          </a:p>
        </p:txBody>
      </p:sp>
      <p:sp>
        <p:nvSpPr>
          <p:cNvPr id="10" name="Text 8">
            <a:hlinkClick r:id="rId4" tooltip="LangGraph BaseStore"/>
          </p:cNvPr>
          <p:cNvSpPr/>
          <p:nvPr/>
        </p:nvSpPr>
        <p:spPr>
          <a:xfrm>
            <a:off x="3710635" y="6455664"/>
            <a:ext cx="724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LangGraph BaseSto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Store</a:t>
            </a:r>
            <a:endParaRPr lang="en-US" sz="750" dirty="0"/>
          </a:p>
        </p:txBody>
      </p:sp>
      <p:sp>
        <p:nvSpPr>
          <p:cNvPr id="11" name="Text 9">
            <a:hlinkClick r:id="rId5" tooltip="DGM outer loop"/>
          </p:cNvPr>
          <p:cNvSpPr/>
          <p:nvPr/>
        </p:nvSpPr>
        <p:spPr>
          <a:xfrm>
            <a:off x="4553712" y="6455664"/>
            <a:ext cx="9107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5" invalidUrl="" action="" tgtFrame="" tooltip="DGM outer loo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S20 DGM loop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/ 23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304288"/>
            <a:ext cx="3054096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2304288"/>
            <a:ext cx="41148" cy="1051560"/>
          </a:xfrm>
          <a:prstGeom prst="rect">
            <a:avLst/>
          </a:prstGeom>
          <a:solidFill>
            <a:srgbClr val="B6AEFF"/>
          </a:solidFill>
          <a:ln w="10160">
            <a:solidFill>
              <a:srgbClr val="B6AE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242316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组装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7240" y="288036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+ 相关片段 + 当前进度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096512" y="2304288"/>
            <a:ext cx="3767328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96512" y="2304288"/>
            <a:ext cx="41148" cy="1051560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79392" y="242316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Loop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279392" y="288036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 ↔ 行动 ↔ 反馈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30184" y="2304288"/>
            <a:ext cx="3264408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30184" y="2304288"/>
            <a:ext cx="41148" cy="1051560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13064" y="242316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 / 环境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513064" y="288036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 · 执行 · 观察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685032" y="2834640"/>
            <a:ext cx="365760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900416" y="2834640"/>
            <a:ext cx="3840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096512" y="3575304"/>
            <a:ext cx="7498080" cy="46634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88536" y="3666744"/>
            <a:ext cx="7114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Harness：运行政策 / 会话日志 / 生命周期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94360" y="4224528"/>
            <a:ext cx="3054096" cy="1024128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4360" y="4224528"/>
            <a:ext cx="41148" cy="1024128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434340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State / Memory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77240" y="480060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保存进度与可复用信息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096512" y="4224528"/>
            <a:ext cx="3767328" cy="1024128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096512" y="4224528"/>
            <a:ext cx="41148" cy="1024128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79392" y="434340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Eval → 改动验收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4279392" y="48006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 / 产物 / 成本；未见任务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8330184" y="4224528"/>
            <a:ext cx="3264408" cy="1024128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30184" y="4224528"/>
            <a:ext cx="41148" cy="1024128"/>
          </a:xfrm>
          <a:prstGeom prst="rect">
            <a:avLst/>
          </a:prstGeom>
          <a:solidFill>
            <a:srgbClr val="B6AEFF"/>
          </a:solidFill>
          <a:ln w="10160">
            <a:solidFill>
              <a:srgbClr val="B6AE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13064" y="434340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RSI 研究问题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8513064" y="480060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是否提升后续自改进能力？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 flipV="1">
            <a:off x="2112264" y="3401568"/>
            <a:ext cx="0" cy="768096"/>
          </a:xfrm>
          <a:prstGeom prst="line">
            <a:avLst/>
          </a:prstGeom>
          <a:noFill/>
          <a:ln w="19050">
            <a:solidFill>
              <a:srgbClr val="F5C879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5980176" y="4087368"/>
            <a:ext cx="0" cy="91440"/>
          </a:xfrm>
          <a:prstGeom prst="line">
            <a:avLst/>
          </a:prstGeom>
          <a:noFill/>
          <a:ln w="19050">
            <a:solidFill>
              <a:srgbClr val="9DE2BC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7900416" y="4736592"/>
            <a:ext cx="384048" cy="0"/>
          </a:xfrm>
          <a:prstGeom prst="line">
            <a:avLst/>
          </a:prstGeom>
          <a:noFill/>
          <a:ln w="19050">
            <a:solidFill>
              <a:srgbClr val="B6AEFF"/>
            </a:solidFill>
            <a:prstDash val="solid"/>
            <a:headEnd type="none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先做可观察、可验收的小闭环，再讨论更大的自主性。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继续阅读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从设计问题进入源码，比从项目名入手更容易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每个问题都有一条可复查的阅读路径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完整直链、commit、代码摘录与 claims 对照见资料包</a:t>
            </a:r>
            <a:endParaRPr lang="en-US" sz="900" dirty="0"/>
          </a:p>
        </p:txBody>
      </p:sp>
      <p:sp>
        <p:nvSpPr>
          <p:cNvPr id="7" name="Text 5">
            <a:hlinkClick r:id="rId1" tooltip="Codex run_turn"/>
          </p:cNvPr>
          <p:cNvSpPr/>
          <p:nvPr/>
        </p:nvSpPr>
        <p:spPr>
          <a:xfrm>
            <a:off x="62179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Codex run_tur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Codex loop</a:t>
            </a:r>
            <a:endParaRPr lang="en-US" sz="750" dirty="0"/>
          </a:p>
        </p:txBody>
      </p:sp>
      <p:sp>
        <p:nvSpPr>
          <p:cNvPr id="8" name="Text 6">
            <a:hlinkClick r:id="rId2" tooltip="Codex ToolOrchestrator"/>
          </p:cNvPr>
          <p:cNvSpPr/>
          <p:nvPr/>
        </p:nvSpPr>
        <p:spPr>
          <a:xfrm>
            <a:off x="1775765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Codex ToolOrchestrat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 工具策略</a:t>
            </a:r>
            <a:endParaRPr lang="en-US" sz="750" dirty="0"/>
          </a:p>
        </p:txBody>
      </p:sp>
      <p:sp>
        <p:nvSpPr>
          <p:cNvPr id="9" name="Text 7">
            <a:hlinkClick r:id="rId3" tooltip="DSH AgentLoop service"/>
          </p:cNvPr>
          <p:cNvSpPr/>
          <p:nvPr/>
        </p:nvSpPr>
        <p:spPr>
          <a:xfrm>
            <a:off x="2556662" y="6455664"/>
            <a:ext cx="972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DSH AgentLoop servi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S16 AgentLoop</a:t>
            </a:r>
            <a:endParaRPr lang="en-US" sz="750" dirty="0"/>
          </a:p>
        </p:txBody>
      </p:sp>
      <p:sp>
        <p:nvSpPr>
          <p:cNvPr id="10" name="Text 8">
            <a:hlinkClick r:id="rId4" tooltip="LangGraph BaseCheckpointSaver"/>
          </p:cNvPr>
          <p:cNvSpPr/>
          <p:nvPr/>
        </p:nvSpPr>
        <p:spPr>
          <a:xfrm>
            <a:off x="3648456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LangGraph BaseCheckpointSav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S13 Checkpoint</a:t>
            </a:r>
            <a:endParaRPr lang="en-US" sz="750" dirty="0"/>
          </a:p>
        </p:txBody>
      </p:sp>
      <p:sp>
        <p:nvSpPr>
          <p:cNvPr id="11" name="Text 9">
            <a:hlinkClick r:id="rId5" tooltip="LangGraph BaseStore"/>
          </p:cNvPr>
          <p:cNvSpPr/>
          <p:nvPr/>
        </p:nvSpPr>
        <p:spPr>
          <a:xfrm>
            <a:off x="4802429" y="6455664"/>
            <a:ext cx="724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5" invalidUrl="" action="" tgtFrame="" tooltip="LangGraph BaseSto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Store</a:t>
            </a:r>
            <a:endParaRPr lang="en-US" sz="750" dirty="0"/>
          </a:p>
        </p:txBody>
      </p:sp>
      <p:sp>
        <p:nvSpPr>
          <p:cNvPr id="12" name="Text 10">
            <a:hlinkClick r:id="rId6" tooltip="OpenHands Conversation factory"/>
          </p:cNvPr>
          <p:cNvSpPr/>
          <p:nvPr/>
        </p:nvSpPr>
        <p:spPr>
          <a:xfrm>
            <a:off x="5645506" y="6455664"/>
            <a:ext cx="11594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6" invalidUrl="" action="" tgtFrame="" tooltip="OpenHands Conversation fac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S17 Conversation</a:t>
            </a:r>
            <a:endParaRPr lang="en-US" sz="750" dirty="0"/>
          </a:p>
        </p:txBody>
      </p:sp>
      <p:sp>
        <p:nvSpPr>
          <p:cNvPr id="13" name="Text 11">
            <a:hlinkClick r:id="rId7" tooltip="DGM outer loop"/>
          </p:cNvPr>
          <p:cNvSpPr/>
          <p:nvPr/>
        </p:nvSpPr>
        <p:spPr>
          <a:xfrm>
            <a:off x="6923837" y="6455664"/>
            <a:ext cx="9107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7" invalidUrl="" action="" tgtFrame="" tooltip="DGM outer loo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S20 DGM loop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 / 23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2386584"/>
            <a:ext cx="11000232" cy="60350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2478024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运行控制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633472" y="2478024"/>
            <a:ext cx="8796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Codex: session/turn.rs → tools/orchestrator.rs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94360" y="3090672"/>
            <a:ext cx="11000232" cy="6035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" y="318211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插件接缝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2633472" y="3182112"/>
            <a:ext cx="8796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DSH: docs/architecture.md → AgentLoop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4360" y="3794760"/>
            <a:ext cx="11000232" cy="60350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952" y="388620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状态与记忆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2633472" y="3886200"/>
            <a:ext cx="8796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LangGraph: BaseCheckpointSaver ↔ BaseStore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94360" y="4498848"/>
            <a:ext cx="11000232" cy="6035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59028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执行与演进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2633472" y="4590288"/>
            <a:ext cx="8796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OpenHands: Conversation；DGM: DGM_outer.py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阅读重点是责任边界和失败路径，不是记住所有模块名。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开放讨论 / 20 MIN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用三个真实取舍，交换各自的实践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自主到哪一步？记住哪些东西？怎样证明改得更好？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 20 分钟｜每个问题先给一个亲身案例，再谈原则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 / 23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自主性边界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55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哪一个动作必须由你确认？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955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速度与控制怎么取舍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281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93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293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记忆的边界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293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哪条信息值得留下或过期？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293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连续性与错误累积怎么取舍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61960" y="2468880"/>
            <a:ext cx="3532632" cy="24505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63128" y="2660904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63128" y="3218688"/>
            <a:ext cx="313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改进的证据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263128" y="3886200"/>
            <a:ext cx="3130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拿什么未见任务验收自修改？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263128" y="4407408"/>
            <a:ext cx="3130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指标提升与真实收益怎么取舍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没有标准答案；具体场景比泛泛站队更有价值。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从一份 PPT 看 Agent 与 Harness</dc:title>
  <dc:subject>Agent、Harness、上下文、记忆、评测及 RSI 的关系</dc:subject>
  <dc:creator>Codex</dc:creator>
  <cp:lastModifiedBy>Codex</cp:lastModifiedBy>
  <cp:revision>1</cp:revision>
  <dcterms:created xsi:type="dcterms:W3CDTF">2026-10-23T03:52:01Z</dcterms:created>
  <dcterms:modified xsi:type="dcterms:W3CDTF">2026-10-23T03:52:01Z</dcterms:modified>
</cp:coreProperties>
</file>