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我们请求查 DSH 的架构，模型提出读取文档，宿主执行读取，返回内容或报错。下一轮模型看到反馈，才决定是否继续读源码。这就是最小闭环。图里的“决策”是模型生成下一步建议；真正执行命令的是程序和工具，模型自己并没有文件系统权限。Codex 的 run_turn 明确处理工具反馈与继续条件；DSH 也有对应循环。停止条件同样重要：交付完成、预算耗尽或需要人工输入，都应该能退出。
过渡问题：既然能根据结果调整，为什么长任务仍会失败？
结论：决策 → 行动 → 观察 → 再决策
证据类型：源码事实 + 示意架构
Claims：C01, C08
来源（2026-10-23 核查；源码只静态阅读）：
S10 Codex run_turn
https://github.com/openai/codex/blob/8531184b49bcb160175a84e140b659a83a426df7/codex-rs/core/src/session/turn.rs#L158
定位：[(158, 195), (570, 640), (730, 750)]
S19 DSH ReactLoopAgent
https://github.com/deepseek-ai/deepseek-harness/blob/687f282e8625c6b8d11ff58211a90524be2e4317/packages/core/agent-loop/src/agent.ts#L260
定位：[(260, 313), (675, 703)]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可以把 Harness 理解为让智能体做事的运行底座。里面有循环，也有工具调用、权限、日志、上下文管理与状态；应用还可以在外面加验收与业务规则。这个词不是一个跨项目统一接口。我们只用它帮助定位责任：是模型建议错了，还是工具没有执行，还是结果没保存？图上把“事实核查”和“构建检查”放到应用验收层，是我们的设计建议，不能误称 Codex 会替所有任务自动做完。
过渡问题：在 Codex 里，哪些部分能找到具体代码？
结论：模型提出行动；Harness 决定怎样执行和记录
证据类型：架构归纳
Claims：C01, C08
来源（2026-10-23 核查；源码只静态阅读）：
S02 Unlocking the Codex harness
https://openai.com/index/unlocking-the-codex-harness/
定位：Inside the Codex harness; conversation primitives
S11 Codex ToolOrchestrator
https://github.com/openai/codex/blob/8531184b49bcb160175a84e140b659a83a426df7/codex-rs/core/src/tools/orchestrator.rs#L1
定位：[(1, 4), (130, 180), (280, 305)]
S04 DSH architecture
https://github.com/deepseek-ai/deepseek-harness/blob/687f282e8625c6b8d11ff58211a90524be2e4317/docs/architecture.md#L1
定位：[(1, 42), (74, 145)]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对应到本次任务，模型决定读取文件，run_turn 驱动一次次请求，工具编排层处理执行政策，再把返回值送回后续上下文。源码的 run_turn 在当前提交已经移到 session/turn.rs，直接照搬旧路径会找不到。ToolOrchestrator 的职责注释写着审批、沙箱选择和拒绝后的重试。App Server 让客户端围绕 thread、turn 和 item 呈现工作进度。这里的持久会话不是长期知识库，也不代表所有外部动作都可回滚。
过渡问题：Skill、MCP 和 Tool 分别放在哪里？
结论：从 run_turn 到 ToolOrchestrator，再把反馈写回会话
证据类型：CODEX / 运行控制
Claims：C01
来源（2026-10-23 核查；源码只静态阅读）：
S10 Codex run_turn
https://github.com/openai/codex/blob/8531184b49bcb160175a84e140b659a83a426df7/codex-rs/core/src/session/turn.rs#L158
定位：[(158, 195), (570, 640), (730, 750)]
S11 Codex ToolOrchestrator
https://github.com/openai/codex/blob/8531184b49bcb160175a84e140b659a83a426df7/codex-rs/core/src/tools/orchestrator.rs#L1
定位：[(1, 4), (130, 180), (280, 305)]
S02 Unlocking the Codex harness
https://openai.com/index/unlocking-the-codex-harness/
定位：Inside the Codex harness; conversation primitives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DeepSeek Harness 不是 DeepSeek 模型的另一种称呼。官方架构把 Cordis 作为插件基础，插件贡献服务、事件与可撤销的注册效果。AgentLoop 在代码里也是 Service，依赖 sessions、llm、tools 等服务。profile 通过有顺序的 bundle 与 patch 组成运行树。对于 PPT 案例，可以想象替换资料检索或渲染能力，而不是复制一套界面。可替换带来灵活性，也需要接口、生命周期和权限回归；这里没有测量组合后的性能。
过渡问题：替换能力之外，任务中断时怎样接着做？
结论：模型适配、工具、会话与 Agent Loop 都有替换接缝
证据类型：DSH / 插件组合
Claims：C02
来源（2026-10-23 核查；源码只静态阅读）：
S03 DeepSeek Harness 官网
https://deepseek.com/harness/
定位：预览版; 一切皆插件
S04 DSH architecture
https://github.com/deepseek-ai/deepseek-harness/blob/687f282e8625c6b8d11ff58211a90524be2e4317/docs/architecture.md#L1
定位：[(1, 42), (74, 145)]
S16 DSH AgentLoop service
https://github.com/deepseek-ai/deepseek-harness/blob/687f282e8625c6b8d11ff58211a90524be2e4317/packages/core/agent-loop/src/index.ts#L338
定位：[(338, 365)]
S19 DSH ReactLoopAgent
https://github.com/deepseek-ai/deepseek-harness/blob/687f282e8625c6b8d11ff58211a90524be2e4317/packages/core/agent-loop/src/agent.ts#L260
定位：[(260, 313), (675, 703)]
S21 DSH guarded tools
https://github.com/deepseek-ai/deepseek-harness/blob/687f282e8625c6b8d11ff58211a90524be2e4317/packages/core/tools/src/index.ts#L725
定位：[(725, 739), (1500, 1537)]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假设核查已经完成，PPT 还没渲染。我们把已核结论、文件位置、待办和下一个节点放在图状态中，由 checkpointer 保存。恢复时用同一 thread_id 找回对应进度。Store 是另一条线，保存跨任务复用的信息，例如这类交流会喜欢先讲案例。源码 compile 同时接受两者。注意恢复的是保存的状态和执行进度，不是冻结整个操作系统；外部发邮件、重复计费或覆盖文件，仍需应用处理幂等和边界。
过渡问题：有了图状态，执行工具的工作区又在哪里？
结论：Graph State → Checkpoint → 同一 thread 继续
证据类型：LANGGRAPH / 持久状态
Claims：C03, C11
来源（2026-10-23 核查；源码只静态阅读）：
S05 LangGraph Persistence
https://docs.langchain.com/oss/python/langgraph/persistence
定位：Checkpointer vs. store; MemorySaver does not persist between restarts
S12 LangGraph StateGraph.compile
https://github.com/langchain-ai/langgraph/blob/9d68e5b3eb1a63027b05e9f0152149ea0284dcdb/libs/langgraph/langgraph/graph/state.py#L131
定位：[(131, 157), (1177, 1214), (1355, 1365)]
S13 LangGraph BaseCheckpointSaver
https://github.com/langchain-ai/langgraph/blob/9d68e5b3eb1a63027b05e9f0152149ea0284dcdb/libs/checkpoint/langgraph/checkpoint/base/__init__.py#L93
定位：[(93, 130), (199, 230)]
S18 LangGraph BaseStore
https://github.com/langchain-ai/langgraph/blob/9d68e5b3eb1a63027b05e9f0152149ea0284dcdb/libs/checkpoint/langgraph/store/base/__init__.py#L1
定位：[(1, 12), (708, 736)]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OpenHands Software Agent SDK 有 Agent、Conversation、Tool 和 Workspace 等组件。Conversation 工厂检查 workspace 类型，返回本地或远程实现；Agent.step 从会话视图组装输入，也处理压缩事件。用在 PPT 案例里，本地原型可以直接调用渲染工具，而远程部署可以让 Agent Server 在容器工作区内执行同一类工作。不能把“用了 workspace”就等同有沙箱，也不要把 UI 产品和 SDK 当成同一个仓库。我们读了源码，但没有部署这个 SDK。
过渡问题：四个项目放在一起，究竟该比较什么？
结论：Conversation 选择本地或远程；工具在选定环境运行
证据类型：OPENHANDS / 执行部署
Claims：C04, C05
来源（2026-10-23 核查；源码只静态阅读）：
S07 OpenHands SDK architecture
https://docs.openhands.dev/sdk/arch/overview
定位：Four-Package Architecture; Two Deployment Modes
S14 OpenHands Agent.step
https://github.com/OpenHands/software-agent-sdk/blob/60192ed54db73ac658ac1a07462916126c32d3a0/openhands-sdk/openhands/sdk/agent/agent.py#L690
定位：[(690, 757)]
S17 OpenHands Conversation factory
https://github.com/OpenHands/software-agent-sdk/blob/60192ed54db73ac658ac1a07462916126c32d3a0/openhands-sdk/openhands/sdk/conversation/conversation.py#L34
定位：[(34, 58), (153, 165), (190, 235)]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我们可以把短期进度放 checkpoint，把经核实的知识和偏好放应用自己的 Store。写入时至少问：来自哪里、适用谁、什么时候核实、何时复核？检索时也不只是相似度高就全拿来，要按当前任务和范围筛选。语义知识、情景经历、程序性经验是有用的分类，但不必为每一类建一个数据库。源码 BaseStore 提供存取接口和 namespace，是否启用向量搜索、TTL 及如何纠错，需要另外设计。
过渡问题：如果一条错误知识已经被保存，会造成什么？
结论：候选信息 → 验证与定界 → 保存 → 检索 → 更新
证据类型：设计建议
Claims：C10, C11, C12
来源（2026-10-23 核查；源码只静态阅读）：
S18 LangGraph BaseStore
https://github.com/langchain-ai/langgraph/blob/9d68e5b3eb1a63027b05e9f0152149ea0284dcdb/libs/checkpoint/langgraph/store/base/__init__.py#L1
定位：[(1, 12), (708, 736)]
S13 LangGraph BaseCheckpointSaver
https://github.com/langchain-ai/langgraph/blob/9d68e5b3eb1a63027b05e9f0152149ea0284dcdb/libs/checkpoint/langgraph/checkpoint/base/__init__.py#L93
定位：[(93, 130), (199, 230)]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现在把地图接起来。Agent 在 Harness 中行动，工具改变环境，反馈回到下一轮。State 保存当前任务，Memory 留下可复用信息；上下文工程决定哪些内容进入模型。Eval 在另一条线上判断产物和系统改动是否值得接受。只有改动进一步提升后续自改进能力并获得证据，才有资格讨论 RSI。各环节不能相互替代：长记忆不能代替核事实，强沙箱不能代替好评测，多 Agent 也不能代替清楚的交付标准。
过渡问题：如果只带走一个实践动作，你会从哪个闭环开始？
结论：Agent 做事；Harness 承载；Context / Memory 供给；Eval 检验
证据类型：关系总图
Claims：C08, C10, C13, C16
来源（2026-10-23 核查；源码只静态阅读）：
S10 Codex run_turn
https://github.com/openai/codex/blob/8531184b49bcb160175a84e140b659a83a426df7/codex-rs/core/src/session/turn.rs#L158
定位：[(158, 195), (570, 640), (730, 750)]
S11 Codex ToolOrchestrator
https://github.com/openai/codex/blob/8531184b49bcb160175a84e140b659a83a426df7/codex-rs/core/src/tools/orchestrator.rs#L1
定位：[(1, 4), (130, 180), (280, 305)]
S13 LangGraph BaseCheckpointSaver
https://github.com/langchain-ai/langgraph/blob/9d68e5b3eb1a63027b05e9f0152149ea0284dcdb/libs/checkpoint/langgraph/checkpoint/base/__init__.py#L93
定位：[(93, 130), (199, 230)]
S18 LangGraph BaseStore
https://github.com/langchain-ai/langgraph/blob/9d68e5b3eb1a63027b05e9f0152149ea0284dcdb/libs/checkpoint/langgraph/store/base/__init__.py#L1
定位：[(1, 12), (708, 736)]
S20 DGM outer loop
https://github.com/jennyzzt/dgm/blob/a565fd2d1dca504ef5104a7cc0f3bdc4ab9b4fd2/DGM_outer.py#L146
定位：[(146, 190), (270, 300), (315, 332)]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openai/codex/blob/8531184b49bcb160175a84e140b659a83a426df7/codex-rs/core/src/session/turn.rs#L158" TargetMode="External"/><Relationship Id="rId2" Type="http://schemas.openxmlformats.org/officeDocument/2006/relationships/hyperlink" Target="https://github.com/deepseek-ai/deepseek-harness/blob/687f282e8625c6b8d11ff58211a90524be2e4317/packages/core/agent-loop/src/agent.ts#L260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openai.com/index/unlocking-the-codex-harness/" TargetMode="External"/><Relationship Id="rId2" Type="http://schemas.openxmlformats.org/officeDocument/2006/relationships/hyperlink" Target="https://github.com/openai/codex/blob/8531184b49bcb160175a84e140b659a83a426df7/codex-rs/core/src/tools/orchestrator.rs#L1" TargetMode="External"/><Relationship Id="rId3" Type="http://schemas.openxmlformats.org/officeDocument/2006/relationships/hyperlink" Target="https://github.com/deepseek-ai/deepseek-harness/blob/687f282e8625c6b8d11ff58211a90524be2e4317/docs/architecture.md#L1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openai/codex/blob/8531184b49bcb160175a84e140b659a83a426df7/codex-rs/core/src/session/turn.rs#L158" TargetMode="External"/><Relationship Id="rId2" Type="http://schemas.openxmlformats.org/officeDocument/2006/relationships/hyperlink" Target="https://github.com/openai/codex/blob/8531184b49bcb160175a84e140b659a83a426df7/codex-rs/core/src/tools/orchestrator.rs#L1" TargetMode="External"/><Relationship Id="rId3" Type="http://schemas.openxmlformats.org/officeDocument/2006/relationships/hyperlink" Target="https://openai.com/index/unlocking-the-codex-harness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deepseek.com/harness/" TargetMode="External"/><Relationship Id="rId2" Type="http://schemas.openxmlformats.org/officeDocument/2006/relationships/hyperlink" Target="https://github.com/deepseek-ai/deepseek-harness/blob/687f282e8625c6b8d11ff58211a90524be2e4317/docs/architecture.md#L1" TargetMode="External"/><Relationship Id="rId3" Type="http://schemas.openxmlformats.org/officeDocument/2006/relationships/hyperlink" Target="https://github.com/deepseek-ai/deepseek-harness/blob/687f282e8625c6b8d11ff58211a90524be2e4317/packages/core/agent-loop/src/index.ts#L338" TargetMode="External"/><Relationship Id="rId4" Type="http://schemas.openxmlformats.org/officeDocument/2006/relationships/hyperlink" Target="https://github.com/deepseek-ai/deepseek-harness/blob/687f282e8625c6b8d11ff58211a90524be2e4317/packages/core/agent-loop/src/agent.ts#L260" TargetMode="External"/><Relationship Id="rId5" Type="http://schemas.openxmlformats.org/officeDocument/2006/relationships/hyperlink" Target="https://github.com/deepseek-ai/deepseek-harness/blob/687f282e8625c6b8d11ff58211a90524be2e4317/packages/core/tools/src/index.ts#L725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langchain.com/oss/python/langgraph/persistence" TargetMode="External"/><Relationship Id="rId2" Type="http://schemas.openxmlformats.org/officeDocument/2006/relationships/hyperlink" Target="https://github.com/langchain-ai/langgraph/blob/9d68e5b3eb1a63027b05e9f0152149ea0284dcdb/libs/langgraph/langgraph/graph/state.py#L131" TargetMode="External"/><Relationship Id="rId3" Type="http://schemas.openxmlformats.org/officeDocument/2006/relationships/hyperlink" Target="https://github.com/langchain-ai/langgraph/blob/9d68e5b3eb1a63027b05e9f0152149ea0284dcdb/libs/checkpoint/langgraph/checkpoint/base/__init__.py#L93" TargetMode="External"/><Relationship Id="rId4" Type="http://schemas.openxmlformats.org/officeDocument/2006/relationships/hyperlink" Target="https://github.com/langchain-ai/langgraph/blob/9d68e5b3eb1a63027b05e9f0152149ea0284dcdb/libs/checkpoint/langgraph/store/base/__init__.py#L1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openhands.dev/sdk/arch/overview" TargetMode="External"/><Relationship Id="rId2" Type="http://schemas.openxmlformats.org/officeDocument/2006/relationships/hyperlink" Target="https://github.com/OpenHands/software-agent-sdk/blob/60192ed54db73ac658ac1a07462916126c32d3a0/openhands-sdk/openhands/sdk/agent/agent.py#L690" TargetMode="External"/><Relationship Id="rId3" Type="http://schemas.openxmlformats.org/officeDocument/2006/relationships/hyperlink" Target="https://github.com/OpenHands/software-agent-sdk/blob/60192ed54db73ac658ac1a07462916126c32d3a0/openhands-sdk/openhands/sdk/conversation/conversation.py#L34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langchain-ai/langgraph/blob/9d68e5b3eb1a63027b05e9f0152149ea0284dcdb/libs/checkpoint/langgraph/store/base/__init__.py#L1" TargetMode="External"/><Relationship Id="rId2" Type="http://schemas.openxmlformats.org/officeDocument/2006/relationships/hyperlink" Target="https://github.com/langchain-ai/langgraph/blob/9d68e5b3eb1a63027b05e9f0152149ea0284dcdb/libs/checkpoint/langgraph/checkpoint/base/__init__.py#L93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openai/codex/blob/8531184b49bcb160175a84e140b659a83a426df7/codex-rs/core/src/session/turn.rs#L158" TargetMode="External"/><Relationship Id="rId2" Type="http://schemas.openxmlformats.org/officeDocument/2006/relationships/hyperlink" Target="https://github.com/openai/codex/blob/8531184b49bcb160175a84e140b659a83a426df7/codex-rs/core/src/tools/orchestrator.rs#L1" TargetMode="External"/><Relationship Id="rId3" Type="http://schemas.openxmlformats.org/officeDocument/2006/relationships/hyperlink" Target="https://github.com/langchain-ai/langgraph/blob/9d68e5b3eb1a63027b05e9f0152149ea0284dcdb/libs/checkpoint/langgraph/checkpoint/base/__init__.py#L93" TargetMode="External"/><Relationship Id="rId4" Type="http://schemas.openxmlformats.org/officeDocument/2006/relationships/hyperlink" Target="https://github.com/langchain-ai/langgraph/blob/9d68e5b3eb1a63027b05e9f0152149ea0284dcdb/libs/checkpoint/langgraph/store/base/__init__.py#L1" TargetMode="External"/><Relationship Id="rId5" Type="http://schemas.openxmlformats.org/officeDocument/2006/relationships/hyperlink" Target="https://github.com/jennyzzt/dgm/blob/a565fd2d1dca504ef5104a7cc0f3bdc4ab9b4fd2/DGM_outer.py#L146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65760"/>
            <a:ext cx="310896" cy="41148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65176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源码事实 + 示意架构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Loop 把工具结果带回下一轮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12648" y="1527048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 → 行动 → 观察 → 再决策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" y="608990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示意架构｜闭环能适应反馈，但不会自动保证正确</a:t>
            </a:r>
            <a:endParaRPr lang="en-US" sz="900" dirty="0"/>
          </a:p>
        </p:txBody>
      </p:sp>
      <p:sp>
        <p:nvSpPr>
          <p:cNvPr id="7" name="Text 5">
            <a:hlinkClick r:id="rId1" tooltip="Codex run_turn"/>
          </p:cNvPr>
          <p:cNvSpPr/>
          <p:nvPr/>
        </p:nvSpPr>
        <p:spPr>
          <a:xfrm>
            <a:off x="621792" y="6455664"/>
            <a:ext cx="10351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" invalidUrl="" action="" tgtFrame="" tooltip="Codex run_tur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S10 Codex loop</a:t>
            </a:r>
            <a:endParaRPr lang="en-US" sz="750" dirty="0"/>
          </a:p>
        </p:txBody>
      </p:sp>
      <p:sp>
        <p:nvSpPr>
          <p:cNvPr id="8" name="Text 6">
            <a:hlinkClick r:id="rId2" tooltip="DSH ReactLoopAgent"/>
          </p:cNvPr>
          <p:cNvSpPr/>
          <p:nvPr/>
        </p:nvSpPr>
        <p:spPr>
          <a:xfrm>
            <a:off x="1775765" y="6455664"/>
            <a:ext cx="6620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invalidUrl="" action="" tgtFrame="" tooltip="DSH ReactLoopAgen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S19 会话投影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018520" y="64099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23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94360" y="2761488"/>
            <a:ext cx="2585466" cy="133502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2889504"/>
            <a:ext cx="2311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04088" y="3255264"/>
            <a:ext cx="23660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找什么证据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3211830" y="3447288"/>
            <a:ext cx="155448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399282" y="2761488"/>
            <a:ext cx="2585466" cy="133502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36442" y="2889504"/>
            <a:ext cx="2311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509010" y="3255264"/>
            <a:ext cx="23660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行动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读取官方仓库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6016752" y="3447288"/>
            <a:ext cx="155448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204204" y="2761488"/>
            <a:ext cx="2585466" cy="133502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41364" y="2889504"/>
            <a:ext cx="2311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313932" y="3255264"/>
            <a:ext cx="23660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8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5C8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内容 / 报错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8821674" y="3447288"/>
            <a:ext cx="155448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009126" y="2761488"/>
            <a:ext cx="2585466" cy="133502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146286" y="2889504"/>
            <a:ext cx="23111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118854" y="3255264"/>
            <a:ext cx="23660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6AE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更新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B6AE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继续 / 停止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10241280" y="4160520"/>
            <a:ext cx="0" cy="521208"/>
          </a:xfrm>
          <a:prstGeom prst="line">
            <a:avLst/>
          </a:prstGeom>
          <a:noFill/>
          <a:ln w="19050">
            <a:solidFill>
              <a:srgbClr val="AABAD1"/>
            </a:solidFill>
            <a:prstDash val="solid"/>
            <a:headEnd type="none"/>
            <a:tailEnd type="none"/>
          </a:ln>
        </p:spPr>
      </p:sp>
      <p:sp>
        <p:nvSpPr>
          <p:cNvPr id="27" name="Shape 24"/>
          <p:cNvSpPr/>
          <p:nvPr/>
        </p:nvSpPr>
        <p:spPr>
          <a:xfrm flipH="1">
            <a:off x="1874520" y="4681728"/>
            <a:ext cx="8366760" cy="0"/>
          </a:xfrm>
          <a:prstGeom prst="line">
            <a:avLst/>
          </a:prstGeom>
          <a:noFill/>
          <a:ln w="19050">
            <a:solidFill>
              <a:srgbClr val="AABAD1"/>
            </a:solidFill>
            <a:prstDash val="solid"/>
            <a:headEnd type="none"/>
            <a:tailEnd type="none"/>
          </a:ln>
        </p:spPr>
      </p:sp>
      <p:sp>
        <p:nvSpPr>
          <p:cNvPr id="28" name="Shape 25"/>
          <p:cNvSpPr/>
          <p:nvPr/>
        </p:nvSpPr>
        <p:spPr>
          <a:xfrm flipV="1">
            <a:off x="1874520" y="4160520"/>
            <a:ext cx="0" cy="521208"/>
          </a:xfrm>
          <a:prstGeom prst="line">
            <a:avLst/>
          </a:prstGeom>
          <a:noFill/>
          <a:ln w="19050">
            <a:solidFill>
              <a:srgbClr val="AABAD1"/>
            </a:solidFill>
            <a:prstDash val="solid"/>
            <a:headEnd type="none"/>
            <a:tailEnd type="triangle"/>
          </a:ln>
        </p:spPr>
      </p:sp>
      <p:sp>
        <p:nvSpPr>
          <p:cNvPr id="29" name="Text 26"/>
          <p:cNvSpPr/>
          <p:nvPr/>
        </p:nvSpPr>
        <p:spPr>
          <a:xfrm>
            <a:off x="2743200" y="4782312"/>
            <a:ext cx="6858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反馈进入后续请求；完成、受阻或预算到达时停止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94360" y="5477256"/>
            <a:ext cx="11000232" cy="51206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77240" y="5559552"/>
            <a:ext cx="10625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行动改变环境；观察改变下一次模型输入。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65760"/>
            <a:ext cx="310896" cy="41148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65176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架构归纳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Harness 承载循环，也管理运行边界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12648" y="1527048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模型提出行动；Harness 决定怎样执行和记录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" y="608990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示意架构｜Harness 与 Agent Loop 存在包含和重叠关系</a:t>
            </a:r>
            <a:endParaRPr lang="en-US" sz="900" dirty="0"/>
          </a:p>
        </p:txBody>
      </p:sp>
      <p:sp>
        <p:nvSpPr>
          <p:cNvPr id="7" name="Text 5">
            <a:hlinkClick r:id="rId1" tooltip="Unlocking the Codex harness"/>
          </p:cNvPr>
          <p:cNvSpPr/>
          <p:nvPr/>
        </p:nvSpPr>
        <p:spPr>
          <a:xfrm>
            <a:off x="621792" y="6455664"/>
            <a:ext cx="12216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" invalidUrl="" action="" tgtFrame="" tooltip="Unlocking the Codex harnes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S02 Codex harness</a:t>
            </a:r>
            <a:endParaRPr lang="en-US" sz="750" dirty="0"/>
          </a:p>
        </p:txBody>
      </p:sp>
      <p:sp>
        <p:nvSpPr>
          <p:cNvPr id="8" name="Text 6">
            <a:hlinkClick r:id="rId2" tooltip="Codex ToolOrchestrator"/>
          </p:cNvPr>
          <p:cNvSpPr/>
          <p:nvPr/>
        </p:nvSpPr>
        <p:spPr>
          <a:xfrm>
            <a:off x="1962302" y="6455664"/>
            <a:ext cx="6620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invalidUrl="" action="" tgtFrame="" tooltip="Codex ToolOrchestrato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S11 工具策略</a:t>
            </a:r>
            <a:endParaRPr lang="en-US" sz="750" dirty="0"/>
          </a:p>
        </p:txBody>
      </p:sp>
      <p:sp>
        <p:nvSpPr>
          <p:cNvPr id="9" name="Text 7">
            <a:hlinkClick r:id="rId3" tooltip="DSH architecture"/>
          </p:cNvPr>
          <p:cNvSpPr/>
          <p:nvPr/>
        </p:nvSpPr>
        <p:spPr>
          <a:xfrm>
            <a:off x="2743200" y="6455664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3" invalidUrl="" action="" tgtFrame="" tooltip="DSH architectur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S04 DSH 架构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18520" y="64099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23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94360" y="2313432"/>
            <a:ext cx="8339328" cy="2788920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2468880"/>
            <a:ext cx="2788920" cy="393192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6112" y="2505456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HARNESS · 运行边界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95528" y="3118104"/>
            <a:ext cx="3520440" cy="914400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95528" y="3118104"/>
            <a:ext cx="41148" cy="914400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78408" y="323697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Loop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978408" y="369417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模型决策 ↔ 工具反馈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608576" y="3118104"/>
            <a:ext cx="4105656" cy="914400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08576" y="3118104"/>
            <a:ext cx="41148" cy="914400"/>
          </a:xfrm>
          <a:prstGeom prst="rect">
            <a:avLst/>
          </a:prstGeom>
          <a:solidFill>
            <a:srgbClr val="9DE2BC"/>
          </a:solidFill>
          <a:ln w="10160">
            <a:solidFill>
              <a:srgbClr val="9DE2B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91456" y="3236976"/>
            <a:ext cx="3739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 / 权限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4791456" y="3694176"/>
            <a:ext cx="3739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执行政策 · 沙箱 · 错误返回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343400" y="3584448"/>
            <a:ext cx="219456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960120" y="4443984"/>
            <a:ext cx="74249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会话与日志     上下文管理     任务状态</a:t>
            </a:r>
            <a:endParaRPr lang="en-US" sz="1900" dirty="0"/>
          </a:p>
        </p:txBody>
      </p:sp>
      <p:sp>
        <p:nvSpPr>
          <p:cNvPr id="25" name="Shape 22"/>
          <p:cNvSpPr/>
          <p:nvPr/>
        </p:nvSpPr>
        <p:spPr>
          <a:xfrm>
            <a:off x="9198864" y="2313432"/>
            <a:ext cx="2395728" cy="2788920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198864" y="2313432"/>
            <a:ext cx="41148" cy="2788920"/>
          </a:xfrm>
          <a:prstGeom prst="rect">
            <a:avLst/>
          </a:prstGeom>
          <a:solidFill>
            <a:srgbClr val="F5C879"/>
          </a:solidFill>
          <a:ln w="10160">
            <a:solidFill>
              <a:srgbClr val="F5C87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381744" y="2432304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8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应用验收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9381744" y="2889504"/>
            <a:ext cx="202996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来源核查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结构校验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渲染目检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961120" y="3749040"/>
            <a:ext cx="201168" cy="0"/>
          </a:xfrm>
          <a:prstGeom prst="line">
            <a:avLst/>
          </a:prstGeom>
          <a:noFill/>
          <a:ln w="19050">
            <a:solidFill>
              <a:srgbClr val="F5C879"/>
            </a:solidFill>
            <a:prstDash val="solid"/>
            <a:headEnd type="none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594360" y="5477256"/>
            <a:ext cx="11000232" cy="51206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77240" y="5559552"/>
            <a:ext cx="10625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Harness 提高可控性；内容可信度还需要应用自己的验收。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65760"/>
            <a:ext cx="310896" cy="41148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65176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CODEX / 运行控制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Codex 把循环、工具策略和会话接在一起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12648" y="1527048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 run_turn 到 ToolOrchestrator，再把反馈写回会话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" y="608990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官方事实 + 简化调用关系｜省略内部模块，不是完整调用图</a:t>
            </a:r>
            <a:endParaRPr lang="en-US" sz="900" dirty="0"/>
          </a:p>
        </p:txBody>
      </p:sp>
      <p:sp>
        <p:nvSpPr>
          <p:cNvPr id="7" name="Text 5">
            <a:hlinkClick r:id="rId1" tooltip="Codex run_turn"/>
          </p:cNvPr>
          <p:cNvSpPr/>
          <p:nvPr/>
        </p:nvSpPr>
        <p:spPr>
          <a:xfrm>
            <a:off x="621792" y="6455664"/>
            <a:ext cx="10351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" invalidUrl="" action="" tgtFrame="" tooltip="Codex run_tur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S10 Codex loop</a:t>
            </a:r>
            <a:endParaRPr lang="en-US" sz="750" dirty="0"/>
          </a:p>
        </p:txBody>
      </p:sp>
      <p:sp>
        <p:nvSpPr>
          <p:cNvPr id="8" name="Text 6">
            <a:hlinkClick r:id="rId2" tooltip="Codex ToolOrchestrator"/>
          </p:cNvPr>
          <p:cNvSpPr/>
          <p:nvPr/>
        </p:nvSpPr>
        <p:spPr>
          <a:xfrm>
            <a:off x="1775765" y="6455664"/>
            <a:ext cx="6620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invalidUrl="" action="" tgtFrame="" tooltip="Codex ToolOrchestrato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S11 工具策略</a:t>
            </a:r>
            <a:endParaRPr lang="en-US" sz="750" dirty="0"/>
          </a:p>
        </p:txBody>
      </p:sp>
      <p:sp>
        <p:nvSpPr>
          <p:cNvPr id="9" name="Text 7">
            <a:hlinkClick r:id="rId3" tooltip="Unlocking the Codex harness"/>
          </p:cNvPr>
          <p:cNvSpPr/>
          <p:nvPr/>
        </p:nvSpPr>
        <p:spPr>
          <a:xfrm>
            <a:off x="2556662" y="6455664"/>
            <a:ext cx="12216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3" invalidUrl="" action="" tgtFrame="" tooltip="Unlocking the Codex harnes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S02 Codex harness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18520" y="64099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/ 23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94360" y="2286000"/>
            <a:ext cx="8019288" cy="393192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2322576"/>
            <a:ext cx="7781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客户端 / App Server · 线程、轮次、事件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94360" y="2953512"/>
            <a:ext cx="3273552" cy="128930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4360" y="2953512"/>
            <a:ext cx="41148" cy="1289304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3072384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run_turn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77240" y="3529584"/>
            <a:ext cx="290779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组装请求 / 判断是否继续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352544" y="2953512"/>
            <a:ext cx="3456432" cy="128930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52544" y="2953512"/>
            <a:ext cx="41148" cy="1289304"/>
          </a:xfrm>
          <a:prstGeom prst="rect">
            <a:avLst/>
          </a:prstGeom>
          <a:solidFill>
            <a:srgbClr val="9DE2BC"/>
          </a:solidFill>
          <a:ln w="10160">
            <a:solidFill>
              <a:srgbClr val="9DE2B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35424" y="3072384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工具执行编排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535424" y="3529584"/>
            <a:ext cx="309067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审批 / 沙箱 / 错误重试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293608" y="2953512"/>
            <a:ext cx="3300984" cy="1289304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93608" y="2953512"/>
            <a:ext cx="41148" cy="1289304"/>
          </a:xfrm>
          <a:prstGeom prst="rect">
            <a:avLst/>
          </a:prstGeom>
          <a:solidFill>
            <a:srgbClr val="F5C879"/>
          </a:solidFill>
          <a:ln w="10160">
            <a:solidFill>
              <a:srgbClr val="F5C87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76488" y="3072384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8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执行环境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8476488" y="3529584"/>
            <a:ext cx="293522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文件 / Shell / 外部能力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3913632" y="3584448"/>
            <a:ext cx="384048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7854696" y="3584448"/>
            <a:ext cx="384048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9966960" y="4297680"/>
            <a:ext cx="0" cy="512064"/>
          </a:xfrm>
          <a:prstGeom prst="line">
            <a:avLst/>
          </a:prstGeom>
          <a:noFill/>
          <a:ln w="19050">
            <a:solidFill>
              <a:srgbClr val="AABAD1"/>
            </a:solidFill>
            <a:prstDash val="solid"/>
            <a:headEnd type="none"/>
            <a:tailEnd type="none"/>
          </a:ln>
        </p:spPr>
      </p:sp>
      <p:sp>
        <p:nvSpPr>
          <p:cNvPr id="29" name="Shape 26"/>
          <p:cNvSpPr/>
          <p:nvPr/>
        </p:nvSpPr>
        <p:spPr>
          <a:xfrm flipH="1">
            <a:off x="2103120" y="4809744"/>
            <a:ext cx="7863840" cy="0"/>
          </a:xfrm>
          <a:prstGeom prst="line">
            <a:avLst/>
          </a:prstGeom>
          <a:noFill/>
          <a:ln w="19050">
            <a:solidFill>
              <a:srgbClr val="AABAD1"/>
            </a:solidFill>
            <a:prstDash val="solid"/>
            <a:headEnd type="none"/>
            <a:tailEnd type="none"/>
          </a:ln>
        </p:spPr>
      </p:sp>
      <p:sp>
        <p:nvSpPr>
          <p:cNvPr id="30" name="Shape 27"/>
          <p:cNvSpPr/>
          <p:nvPr/>
        </p:nvSpPr>
        <p:spPr>
          <a:xfrm flipV="1">
            <a:off x="2103120" y="4297680"/>
            <a:ext cx="0" cy="512064"/>
          </a:xfrm>
          <a:prstGeom prst="line">
            <a:avLst/>
          </a:prstGeom>
          <a:noFill/>
          <a:ln w="19050">
            <a:solidFill>
              <a:srgbClr val="AABAD1"/>
            </a:solidFill>
            <a:prstDash val="solid"/>
            <a:headEnd type="none"/>
            <a:tailEnd type="triangle"/>
          </a:ln>
        </p:spPr>
      </p:sp>
      <p:sp>
        <p:nvSpPr>
          <p:cNvPr id="31" name="Text 28"/>
          <p:cNvSpPr/>
          <p:nvPr/>
        </p:nvSpPr>
        <p:spPr>
          <a:xfrm>
            <a:off x="2743200" y="4882896"/>
            <a:ext cx="6675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工具输出 / 错误 → 会话记录 → 后续模型请求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94360" y="5477256"/>
            <a:ext cx="11000232" cy="51206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77240" y="5559552"/>
            <a:ext cx="10625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开源的是 Harness 与集成层；不要据此推断模型权重开放。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65760"/>
            <a:ext cx="310896" cy="41148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65176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DSH / 插件组合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DSH 用 Cordis 把运行能力组合成插件树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12648" y="1527048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模型适配、工具、会话与 Agent Loop 都有替换接缝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" y="608990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官方架构的简化图｜官网仍标注预览版</a:t>
            </a:r>
            <a:endParaRPr lang="en-US" sz="900" dirty="0"/>
          </a:p>
        </p:txBody>
      </p:sp>
      <p:sp>
        <p:nvSpPr>
          <p:cNvPr id="7" name="Text 5">
            <a:hlinkClick r:id="rId1" tooltip="DeepSeek Harness 官网"/>
          </p:cNvPr>
          <p:cNvSpPr/>
          <p:nvPr/>
        </p:nvSpPr>
        <p:spPr>
          <a:xfrm>
            <a:off x="621792" y="6455664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" invalidUrl="" action="" tgtFrame="" tooltip="DeepSeek Harness 官网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S03 DSH 官网</a:t>
            </a:r>
            <a:endParaRPr lang="en-US" sz="750" dirty="0"/>
          </a:p>
        </p:txBody>
      </p:sp>
      <p:sp>
        <p:nvSpPr>
          <p:cNvPr id="8" name="Text 6">
            <a:hlinkClick r:id="rId2" tooltip="DSH architecture"/>
          </p:cNvPr>
          <p:cNvSpPr/>
          <p:nvPr/>
        </p:nvSpPr>
        <p:spPr>
          <a:xfrm>
            <a:off x="1527048" y="6455664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invalidUrl="" action="" tgtFrame="" tooltip="DSH architectur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S04 DSH 架构</a:t>
            </a:r>
            <a:endParaRPr lang="en-US" sz="750" dirty="0"/>
          </a:p>
        </p:txBody>
      </p:sp>
      <p:sp>
        <p:nvSpPr>
          <p:cNvPr id="9" name="Text 7">
            <a:hlinkClick r:id="rId3" tooltip="DSH AgentLoop service"/>
          </p:cNvPr>
          <p:cNvSpPr/>
          <p:nvPr/>
        </p:nvSpPr>
        <p:spPr>
          <a:xfrm>
            <a:off x="2432304" y="6455664"/>
            <a:ext cx="97292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3" invalidUrl="" action="" tgtFrame="" tooltip="DSH AgentLoop servic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S16 AgentLoop</a:t>
            </a:r>
            <a:endParaRPr lang="en-US" sz="750" dirty="0"/>
          </a:p>
        </p:txBody>
      </p:sp>
      <p:sp>
        <p:nvSpPr>
          <p:cNvPr id="10" name="Text 8">
            <a:hlinkClick r:id="rId4" tooltip="DSH ReactLoopAgent"/>
          </p:cNvPr>
          <p:cNvSpPr/>
          <p:nvPr/>
        </p:nvSpPr>
        <p:spPr>
          <a:xfrm>
            <a:off x="3524098" y="6455664"/>
            <a:ext cx="6620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4" invalidUrl="" action="" tgtFrame="" tooltip="DSH ReactLoopAgen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S19 会话投影</a:t>
            </a:r>
            <a:endParaRPr lang="en-US" sz="750" dirty="0"/>
          </a:p>
        </p:txBody>
      </p:sp>
      <p:sp>
        <p:nvSpPr>
          <p:cNvPr id="11" name="Text 9">
            <a:hlinkClick r:id="rId5" tooltip="DSH guarded tools"/>
          </p:cNvPr>
          <p:cNvSpPr/>
          <p:nvPr/>
        </p:nvSpPr>
        <p:spPr>
          <a:xfrm>
            <a:off x="4304995" y="6455664"/>
            <a:ext cx="91074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5" invalidUrl="" action="" tgtFrame="" tooltip="DSH guarded tools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S21 工具 guard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018520" y="64099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 / 23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94360" y="2331720"/>
            <a:ext cx="11000232" cy="566928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4597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Profile = 有顺序的 bundles + patches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594360" y="3355848"/>
            <a:ext cx="2551176" cy="1078992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3355848"/>
            <a:ext cx="41148" cy="1078992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3474720"/>
            <a:ext cx="2185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Loop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77240" y="3931920"/>
            <a:ext cx="2185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驱动决策与行动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410712" y="3355848"/>
            <a:ext cx="2551176" cy="1078992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410712" y="3355848"/>
            <a:ext cx="41148" cy="1078992"/>
          </a:xfrm>
          <a:prstGeom prst="rect">
            <a:avLst/>
          </a:prstGeom>
          <a:solidFill>
            <a:srgbClr val="9DE2BC"/>
          </a:solidFill>
          <a:ln w="10160">
            <a:solidFill>
              <a:srgbClr val="9DE2B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593592" y="3474720"/>
            <a:ext cx="2185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LLM adapter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3593592" y="3931920"/>
            <a:ext cx="2185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模型消息与流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227064" y="3355848"/>
            <a:ext cx="2551176" cy="1078992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27064" y="3355848"/>
            <a:ext cx="41148" cy="1078992"/>
          </a:xfrm>
          <a:prstGeom prst="rect">
            <a:avLst/>
          </a:prstGeom>
          <a:solidFill>
            <a:srgbClr val="F5C879"/>
          </a:solidFill>
          <a:ln w="10160">
            <a:solidFill>
              <a:srgbClr val="F5C87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9944" y="3474720"/>
            <a:ext cx="2185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8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Tools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6409944" y="3931920"/>
            <a:ext cx="2185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注册与执行策略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9043416" y="3355848"/>
            <a:ext cx="2551176" cy="1078992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043416" y="3355848"/>
            <a:ext cx="41148" cy="1078992"/>
          </a:xfrm>
          <a:prstGeom prst="rect">
            <a:avLst/>
          </a:prstGeom>
          <a:solidFill>
            <a:srgbClr val="B6AEFF"/>
          </a:solidFill>
          <a:ln w="10160">
            <a:solidFill>
              <a:srgbClr val="B6AE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226296" y="3474720"/>
            <a:ext cx="2185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6AE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Session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9226296" y="3931920"/>
            <a:ext cx="2185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事件日志与投影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94360" y="4709160"/>
            <a:ext cx="11000232" cy="402336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13816" y="477316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CORDIS   ·   services  /  events  /  reversible effects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1865376" y="4462272"/>
            <a:ext cx="0" cy="201168"/>
          </a:xfrm>
          <a:prstGeom prst="line">
            <a:avLst/>
          </a:prstGeom>
          <a:noFill/>
          <a:ln w="19050">
            <a:solidFill>
              <a:srgbClr val="AABAD1"/>
            </a:solidFill>
            <a:prstDash val="solid"/>
            <a:headEnd type="none"/>
            <a:tailEnd type="none"/>
          </a:ln>
        </p:spPr>
      </p:sp>
      <p:sp>
        <p:nvSpPr>
          <p:cNvPr id="35" name="Shape 32"/>
          <p:cNvSpPr/>
          <p:nvPr/>
        </p:nvSpPr>
        <p:spPr>
          <a:xfrm>
            <a:off x="4681728" y="4462272"/>
            <a:ext cx="0" cy="201168"/>
          </a:xfrm>
          <a:prstGeom prst="line">
            <a:avLst/>
          </a:prstGeom>
          <a:noFill/>
          <a:ln w="19050">
            <a:solidFill>
              <a:srgbClr val="AABAD1"/>
            </a:solidFill>
            <a:prstDash val="solid"/>
            <a:headEnd type="none"/>
            <a:tailEnd type="none"/>
          </a:ln>
        </p:spPr>
      </p:sp>
      <p:sp>
        <p:nvSpPr>
          <p:cNvPr id="36" name="Shape 33"/>
          <p:cNvSpPr/>
          <p:nvPr/>
        </p:nvSpPr>
        <p:spPr>
          <a:xfrm>
            <a:off x="7498080" y="4462272"/>
            <a:ext cx="0" cy="201168"/>
          </a:xfrm>
          <a:prstGeom prst="line">
            <a:avLst/>
          </a:prstGeom>
          <a:noFill/>
          <a:ln w="19050">
            <a:solidFill>
              <a:srgbClr val="AABAD1"/>
            </a:solidFill>
            <a:prstDash val="solid"/>
            <a:headEnd type="none"/>
            <a:tailEnd type="none"/>
          </a:ln>
        </p:spPr>
      </p:sp>
      <p:sp>
        <p:nvSpPr>
          <p:cNvPr id="37" name="Shape 34"/>
          <p:cNvSpPr/>
          <p:nvPr/>
        </p:nvSpPr>
        <p:spPr>
          <a:xfrm>
            <a:off x="10314432" y="4462272"/>
            <a:ext cx="0" cy="201168"/>
          </a:xfrm>
          <a:prstGeom prst="line">
            <a:avLst/>
          </a:prstGeom>
          <a:noFill/>
          <a:ln w="19050">
            <a:solidFill>
              <a:srgbClr val="AABAD1"/>
            </a:solidFill>
            <a:prstDash val="solid"/>
            <a:headEnd type="none"/>
            <a:tailEnd type="none"/>
          </a:ln>
        </p:spPr>
      </p:sp>
      <p:sp>
        <p:nvSpPr>
          <p:cNvPr id="38" name="Shape 35"/>
          <p:cNvSpPr/>
          <p:nvPr/>
        </p:nvSpPr>
        <p:spPr>
          <a:xfrm>
            <a:off x="594360" y="5477256"/>
            <a:ext cx="11000232" cy="51206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77240" y="5559552"/>
            <a:ext cx="10625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源码观察：AgentLoop extends Service；插件化不等于免测试。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65760"/>
            <a:ext cx="310896" cy="41148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65176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LANGGRAPH / 持久状态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LangGraph 把恢复建立在线程状态之上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12648" y="1527048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Graph State → Checkpoint → 同一 thread 继续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" y="608990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示意架构｜必须选择持久后端；进程内 saver 重启会丢失</a:t>
            </a:r>
            <a:endParaRPr lang="en-US" sz="900" dirty="0"/>
          </a:p>
        </p:txBody>
      </p:sp>
      <p:sp>
        <p:nvSpPr>
          <p:cNvPr id="7" name="Text 5">
            <a:hlinkClick r:id="rId1" tooltip="LangGraph Persistence"/>
          </p:cNvPr>
          <p:cNvSpPr/>
          <p:nvPr/>
        </p:nvSpPr>
        <p:spPr>
          <a:xfrm>
            <a:off x="621792" y="64556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" invalidUrl="" action="" tgtFrame="" tooltip="LangGraph Persistenc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S05 Persistence</a:t>
            </a:r>
            <a:endParaRPr lang="en-US" sz="750" dirty="0"/>
          </a:p>
        </p:txBody>
      </p:sp>
      <p:sp>
        <p:nvSpPr>
          <p:cNvPr id="8" name="Text 6">
            <a:hlinkClick r:id="rId2" tooltip="LangGraph StateGraph.compile"/>
          </p:cNvPr>
          <p:cNvSpPr/>
          <p:nvPr/>
        </p:nvSpPr>
        <p:spPr>
          <a:xfrm>
            <a:off x="1837944" y="6455664"/>
            <a:ext cx="10351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invalidUrl="" action="" tgtFrame="" tooltip="LangGraph StateGraph.compil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S12 StateGraph</a:t>
            </a:r>
            <a:endParaRPr lang="en-US" sz="750" dirty="0"/>
          </a:p>
        </p:txBody>
      </p:sp>
      <p:sp>
        <p:nvSpPr>
          <p:cNvPr id="9" name="Text 7">
            <a:hlinkClick r:id="rId3" tooltip="LangGraph BaseCheckpointSaver"/>
          </p:cNvPr>
          <p:cNvSpPr/>
          <p:nvPr/>
        </p:nvSpPr>
        <p:spPr>
          <a:xfrm>
            <a:off x="2991917" y="6455664"/>
            <a:ext cx="10351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3" invalidUrl="" action="" tgtFrame="" tooltip="LangGraph BaseCheckpointSav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S13 Checkpoint</a:t>
            </a:r>
            <a:endParaRPr lang="en-US" sz="750" dirty="0"/>
          </a:p>
        </p:txBody>
      </p:sp>
      <p:sp>
        <p:nvSpPr>
          <p:cNvPr id="10" name="Text 8">
            <a:hlinkClick r:id="rId4" tooltip="LangGraph BaseStore"/>
          </p:cNvPr>
          <p:cNvSpPr/>
          <p:nvPr/>
        </p:nvSpPr>
        <p:spPr>
          <a:xfrm>
            <a:off x="4145890" y="6455664"/>
            <a:ext cx="7242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4" invalidUrl="" action="" tgtFrame="" tooltip="LangGraph BaseStor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S18 Store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1018520" y="64099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/ 23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94360" y="2459736"/>
            <a:ext cx="2404872" cy="1051560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4360" y="2459736"/>
            <a:ext cx="41148" cy="1051560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2578608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77240" y="3035808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来源与候选结论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529584" y="2459736"/>
            <a:ext cx="2404872" cy="1051560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529584" y="2459736"/>
            <a:ext cx="41148" cy="1051560"/>
          </a:xfrm>
          <a:prstGeom prst="rect">
            <a:avLst/>
          </a:prstGeom>
          <a:solidFill>
            <a:srgbClr val="9DE2BC"/>
          </a:solidFill>
          <a:ln w="10160">
            <a:solidFill>
              <a:srgbClr val="9DE2B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12464" y="2578608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核查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3712464" y="3035808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已核 / 待核 / 不确定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64808" y="2459736"/>
            <a:ext cx="2404872" cy="1051560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64808" y="2459736"/>
            <a:ext cx="41148" cy="1051560"/>
          </a:xfrm>
          <a:prstGeom prst="rect">
            <a:avLst/>
          </a:prstGeom>
          <a:solidFill>
            <a:srgbClr val="F5C879"/>
          </a:solidFill>
          <a:ln w="10160">
            <a:solidFill>
              <a:srgbClr val="F5C87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47688" y="2578608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8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647688" y="3035808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文件路径与待办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035808" y="2971800"/>
            <a:ext cx="438912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5971032" y="2971800"/>
            <a:ext cx="438912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9390888" y="2459736"/>
            <a:ext cx="2203704" cy="2587752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390888" y="2459736"/>
            <a:ext cx="41148" cy="2587752"/>
          </a:xfrm>
          <a:prstGeom prst="rect">
            <a:avLst/>
          </a:prstGeom>
          <a:solidFill>
            <a:srgbClr val="B6AEFF"/>
          </a:solidFill>
          <a:ln w="10160">
            <a:solidFill>
              <a:srgbClr val="B6AE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573768" y="2578608"/>
            <a:ext cx="1837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6AE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恢复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9573768" y="3035808"/>
            <a:ext cx="1837944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沿 thread_id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找回保存状态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94360" y="3931920"/>
            <a:ext cx="8275320" cy="1115568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95528" y="406908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Checkpointer · 当前 thread</a:t>
            </a:r>
            <a:endParaRPr lang="en-US" sz="1900" dirty="0"/>
          </a:p>
        </p:txBody>
      </p:sp>
      <p:sp>
        <p:nvSpPr>
          <p:cNvPr id="33" name="Text 30"/>
          <p:cNvSpPr/>
          <p:nvPr/>
        </p:nvSpPr>
        <p:spPr>
          <a:xfrm>
            <a:off x="795528" y="45902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保存状态与进度；需要持久后端才能跨进程保留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1792224" y="3547872"/>
            <a:ext cx="0" cy="329184"/>
          </a:xfrm>
          <a:prstGeom prst="line">
            <a:avLst/>
          </a:prstGeom>
          <a:noFill/>
          <a:ln w="19050">
            <a:solidFill>
              <a:srgbClr val="AABAD1"/>
            </a:solidFill>
            <a:prstDash val="solid"/>
            <a:headEnd type="none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4727448" y="3547872"/>
            <a:ext cx="0" cy="329184"/>
          </a:xfrm>
          <a:prstGeom prst="line">
            <a:avLst/>
          </a:prstGeom>
          <a:noFill/>
          <a:ln w="19050">
            <a:solidFill>
              <a:srgbClr val="AABAD1"/>
            </a:solidFill>
            <a:prstDash val="solid"/>
            <a:headEnd type="none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7662672" y="3547872"/>
            <a:ext cx="0" cy="329184"/>
          </a:xfrm>
          <a:prstGeom prst="line">
            <a:avLst/>
          </a:prstGeom>
          <a:noFill/>
          <a:ln w="19050">
            <a:solidFill>
              <a:srgbClr val="AABAD1"/>
            </a:solidFill>
            <a:prstDash val="solid"/>
            <a:headEnd type="none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8915400" y="4498848"/>
            <a:ext cx="429768" cy="0"/>
          </a:xfrm>
          <a:prstGeom prst="line">
            <a:avLst/>
          </a:prstGeom>
          <a:noFill/>
          <a:ln w="19050">
            <a:solidFill>
              <a:srgbClr val="9DE2BC"/>
            </a:solidFill>
            <a:prstDash val="solid"/>
            <a:headEnd type="none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594360" y="5477256"/>
            <a:ext cx="11000232" cy="51206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77240" y="5559552"/>
            <a:ext cx="10625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Checkpoint 解决“接着做到哪”；Store 解决“别的任务也能用什么”。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65760"/>
            <a:ext cx="310896" cy="41148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65176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OPENHANDS / 执行部署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OpenHands 把 Agent 行为与执行部署分开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12648" y="1527048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Conversation 选择本地或远程；工具在选定环境运行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" y="608990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官方 SDK 简化图｜LocalWorkspace 不自动隔离宿主机</a:t>
            </a:r>
            <a:endParaRPr lang="en-US" sz="900" dirty="0"/>
          </a:p>
        </p:txBody>
      </p:sp>
      <p:sp>
        <p:nvSpPr>
          <p:cNvPr id="7" name="Text 5">
            <a:hlinkClick r:id="rId1" tooltip="OpenHands SDK architecture"/>
          </p:cNvPr>
          <p:cNvSpPr/>
          <p:nvPr/>
        </p:nvSpPr>
        <p:spPr>
          <a:xfrm>
            <a:off x="621792" y="6455664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" invalidUrl="" action="" tgtFrame="" tooltip="OpenHands SDK architectur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S07 SDK 架构</a:t>
            </a:r>
            <a:endParaRPr lang="en-US" sz="750" dirty="0"/>
          </a:p>
        </p:txBody>
      </p:sp>
      <p:sp>
        <p:nvSpPr>
          <p:cNvPr id="8" name="Text 6">
            <a:hlinkClick r:id="rId2" tooltip="OpenHands Agent.step"/>
          </p:cNvPr>
          <p:cNvSpPr/>
          <p:nvPr/>
        </p:nvSpPr>
        <p:spPr>
          <a:xfrm>
            <a:off x="1527048" y="6455664"/>
            <a:ext cx="10351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invalidUrl="" action="" tgtFrame="" tooltip="OpenHands Agent.ste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S14 Agent.step</a:t>
            </a:r>
            <a:endParaRPr lang="en-US" sz="750" dirty="0"/>
          </a:p>
        </p:txBody>
      </p:sp>
      <p:sp>
        <p:nvSpPr>
          <p:cNvPr id="9" name="Text 7">
            <a:hlinkClick r:id="rId3" tooltip="OpenHands Conversation factory"/>
          </p:cNvPr>
          <p:cNvSpPr/>
          <p:nvPr/>
        </p:nvSpPr>
        <p:spPr>
          <a:xfrm>
            <a:off x="2681021" y="6455664"/>
            <a:ext cx="11594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3" invalidUrl="" action="" tgtFrame="" tooltip="OpenHands Conversation fac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S17 Conversation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018520" y="64099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 / 23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94360" y="2432304"/>
            <a:ext cx="3776472" cy="1133856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4360" y="2432304"/>
            <a:ext cx="41148" cy="1133856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2551176"/>
            <a:ext cx="3410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+ Conversation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77240" y="3008376"/>
            <a:ext cx="34107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 / 事件 / 会话状态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407408" y="3008376"/>
            <a:ext cx="384048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846320" y="2267712"/>
            <a:ext cx="6748272" cy="1252728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46320" y="2267712"/>
            <a:ext cx="41148" cy="1252728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0" y="2386584"/>
            <a:ext cx="6382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LocalWorkspace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029200" y="2843784"/>
            <a:ext cx="63825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本地进程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工具在本地环境运行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846320" y="3840480"/>
            <a:ext cx="6748272" cy="1252728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46320" y="3840480"/>
            <a:ext cx="41148" cy="1252728"/>
          </a:xfrm>
          <a:prstGeom prst="rect">
            <a:avLst/>
          </a:prstGeom>
          <a:solidFill>
            <a:srgbClr val="9DE2BC"/>
          </a:solidFill>
          <a:ln w="10160">
            <a:solidFill>
              <a:srgbClr val="9DE2B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0" y="3959352"/>
            <a:ext cx="6382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RemoteWorkspace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5029200" y="4416552"/>
            <a:ext cx="63825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远程 Conversation → Agent Server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与工具在远程环境运行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489704" y="3017520"/>
            <a:ext cx="0" cy="1453896"/>
          </a:xfrm>
          <a:prstGeom prst="line">
            <a:avLst/>
          </a:prstGeom>
          <a:noFill/>
          <a:ln w="19050">
            <a:solidFill>
              <a:srgbClr val="AABAD1"/>
            </a:solidFill>
            <a:prstDash val="solid"/>
            <a:headEnd type="none"/>
            <a:tailEnd type="none"/>
          </a:ln>
        </p:spPr>
      </p:sp>
      <p:sp>
        <p:nvSpPr>
          <p:cNvPr id="26" name="Shape 23"/>
          <p:cNvSpPr/>
          <p:nvPr/>
        </p:nvSpPr>
        <p:spPr>
          <a:xfrm>
            <a:off x="4489704" y="4471416"/>
            <a:ext cx="301752" cy="0"/>
          </a:xfrm>
          <a:prstGeom prst="line">
            <a:avLst/>
          </a:prstGeom>
          <a:noFill/>
          <a:ln w="19050">
            <a:solidFill>
              <a:srgbClr val="9DE2BC"/>
            </a:solidFill>
            <a:prstDash val="solid"/>
            <a:headEnd type="none"/>
            <a:tailEnd type="triangle"/>
          </a:ln>
        </p:spPr>
      </p:sp>
      <p:sp>
        <p:nvSpPr>
          <p:cNvPr id="27" name="Text 24"/>
          <p:cNvSpPr/>
          <p:nvPr/>
        </p:nvSpPr>
        <p:spPr>
          <a:xfrm>
            <a:off x="832104" y="4160520"/>
            <a:ext cx="326440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工厂按 workspace 类型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选择实现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594360" y="5477256"/>
            <a:ext cx="11000232" cy="51206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7240" y="5559552"/>
            <a:ext cx="10625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本地模式与远程模式是部署选择；隔离效果取决于实际配置。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65760"/>
            <a:ext cx="310896" cy="41148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65176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设计建议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记忆要经过写入筛选，也要能失效纠错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12648" y="1527048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候选信息 → 验证与定界 → 保存 → 检索 → 更新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" y="608990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示意设计｜不是 LangGraph Store 默认提供的完整记忆策略</a:t>
            </a:r>
            <a:endParaRPr lang="en-US" sz="900" dirty="0"/>
          </a:p>
        </p:txBody>
      </p:sp>
      <p:sp>
        <p:nvSpPr>
          <p:cNvPr id="7" name="Text 5">
            <a:hlinkClick r:id="rId1" tooltip="LangGraph BaseStore"/>
          </p:cNvPr>
          <p:cNvSpPr/>
          <p:nvPr/>
        </p:nvSpPr>
        <p:spPr>
          <a:xfrm>
            <a:off x="621792" y="6455664"/>
            <a:ext cx="7242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" invalidUrl="" action="" tgtFrame="" tooltip="LangGraph BaseStor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S18 Store</a:t>
            </a:r>
            <a:endParaRPr lang="en-US" sz="750" dirty="0"/>
          </a:p>
        </p:txBody>
      </p:sp>
      <p:sp>
        <p:nvSpPr>
          <p:cNvPr id="8" name="Text 6">
            <a:hlinkClick r:id="rId2" tooltip="LangGraph BaseCheckpointSaver"/>
          </p:cNvPr>
          <p:cNvSpPr/>
          <p:nvPr/>
        </p:nvSpPr>
        <p:spPr>
          <a:xfrm>
            <a:off x="1464869" y="6455664"/>
            <a:ext cx="10351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invalidUrl="" action="" tgtFrame="" tooltip="LangGraph BaseCheckpointSav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S13 Checkpoint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1018520" y="64099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 / 23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94360" y="2331720"/>
            <a:ext cx="11000232" cy="868680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2331720"/>
            <a:ext cx="41148" cy="868680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2450592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State → Checkpoint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77240" y="2907792"/>
            <a:ext cx="10634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当前任务：已核结论 / 待办 / 文件位置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94360" y="3602736"/>
            <a:ext cx="2523744" cy="1143000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" y="3602736"/>
            <a:ext cx="41148" cy="1143000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372160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候选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777240" y="417880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知识 / 经历 / 方法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163824" y="4178808"/>
            <a:ext cx="201168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3419856" y="3602736"/>
            <a:ext cx="2523744" cy="1143000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419856" y="3602736"/>
            <a:ext cx="41148" cy="1143000"/>
          </a:xfrm>
          <a:prstGeom prst="rect">
            <a:avLst/>
          </a:prstGeom>
          <a:solidFill>
            <a:srgbClr val="9DE2BC"/>
          </a:solidFill>
          <a:ln w="10160">
            <a:solidFill>
              <a:srgbClr val="9DE2B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02736" y="372160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写入筛选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3602736" y="417880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 / 范围 / 版本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989320" y="4178808"/>
            <a:ext cx="201168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6245352" y="3602736"/>
            <a:ext cx="2523744" cy="1143000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45352" y="3602736"/>
            <a:ext cx="41148" cy="1143000"/>
          </a:xfrm>
          <a:prstGeom prst="rect">
            <a:avLst/>
          </a:prstGeom>
          <a:solidFill>
            <a:srgbClr val="F5C879"/>
          </a:solidFill>
          <a:ln w="10160">
            <a:solidFill>
              <a:srgbClr val="F5C87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28232" y="372160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8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Memory Store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6428232" y="417880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 namespace 保存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8814816" y="4178808"/>
            <a:ext cx="201168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9070848" y="3602736"/>
            <a:ext cx="2523744" cy="1143000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070848" y="3602736"/>
            <a:ext cx="41148" cy="1143000"/>
          </a:xfrm>
          <a:prstGeom prst="rect">
            <a:avLst/>
          </a:prstGeom>
          <a:solidFill>
            <a:srgbClr val="B6AEFF"/>
          </a:solidFill>
          <a:ln w="10160">
            <a:solidFill>
              <a:srgbClr val="B6AE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253728" y="3721608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6AE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检索到 Context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9253728" y="4178808"/>
            <a:ext cx="2157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与本轮任务相关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914400" y="4992624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纠错 / 失效 / 复核：更新持久记录，再让后续检索生效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594360" y="5477256"/>
            <a:ext cx="11000232" cy="51206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77240" y="5559552"/>
            <a:ext cx="10625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先把“可信地记住与忘记”做好，再决定是否引入向量库。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65760"/>
            <a:ext cx="310896" cy="41148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65176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关系总图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86384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0F5F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可靠改进来自多个闭环彼此连接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12648" y="1527048"/>
            <a:ext cx="109728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做事；Harness 承载；Context / Memory 供给；Eval 检验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" y="608990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示意架构｜跨项目归纳，非任一官方完整架构</a:t>
            </a:r>
            <a:endParaRPr lang="en-US" sz="900" dirty="0"/>
          </a:p>
        </p:txBody>
      </p:sp>
      <p:sp>
        <p:nvSpPr>
          <p:cNvPr id="7" name="Text 5">
            <a:hlinkClick r:id="rId1" tooltip="Codex run_turn"/>
          </p:cNvPr>
          <p:cNvSpPr/>
          <p:nvPr/>
        </p:nvSpPr>
        <p:spPr>
          <a:xfrm>
            <a:off x="621792" y="6455664"/>
            <a:ext cx="10351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" invalidUrl="" action="" tgtFrame="" tooltip="Codex run_tur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S10 Codex loop</a:t>
            </a:r>
            <a:endParaRPr lang="en-US" sz="750" dirty="0"/>
          </a:p>
        </p:txBody>
      </p:sp>
      <p:sp>
        <p:nvSpPr>
          <p:cNvPr id="8" name="Text 6">
            <a:hlinkClick r:id="rId2" tooltip="Codex ToolOrchestrator"/>
          </p:cNvPr>
          <p:cNvSpPr/>
          <p:nvPr/>
        </p:nvSpPr>
        <p:spPr>
          <a:xfrm>
            <a:off x="1775765" y="6455664"/>
            <a:ext cx="6620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invalidUrl="" action="" tgtFrame="" tooltip="Codex ToolOrchestrato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S11 工具策略</a:t>
            </a:r>
            <a:endParaRPr lang="en-US" sz="750" dirty="0"/>
          </a:p>
        </p:txBody>
      </p:sp>
      <p:sp>
        <p:nvSpPr>
          <p:cNvPr id="9" name="Text 7">
            <a:hlinkClick r:id="rId3" tooltip="LangGraph BaseCheckpointSaver"/>
          </p:cNvPr>
          <p:cNvSpPr/>
          <p:nvPr/>
        </p:nvSpPr>
        <p:spPr>
          <a:xfrm>
            <a:off x="2556662" y="6455664"/>
            <a:ext cx="10351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3" invalidUrl="" action="" tgtFrame="" tooltip="LangGraph BaseCheckpointSav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S13 Checkpoint</a:t>
            </a:r>
            <a:endParaRPr lang="en-US" sz="750" dirty="0"/>
          </a:p>
        </p:txBody>
      </p:sp>
      <p:sp>
        <p:nvSpPr>
          <p:cNvPr id="10" name="Text 8">
            <a:hlinkClick r:id="rId4" tooltip="LangGraph BaseStore"/>
          </p:cNvPr>
          <p:cNvSpPr/>
          <p:nvPr/>
        </p:nvSpPr>
        <p:spPr>
          <a:xfrm>
            <a:off x="3710635" y="6455664"/>
            <a:ext cx="7242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4" invalidUrl="" action="" tgtFrame="" tooltip="LangGraph BaseStor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S18 Store</a:t>
            </a:r>
            <a:endParaRPr lang="en-US" sz="750" dirty="0"/>
          </a:p>
        </p:txBody>
      </p:sp>
      <p:sp>
        <p:nvSpPr>
          <p:cNvPr id="11" name="Text 9">
            <a:hlinkClick r:id="rId5" tooltip="DGM outer loop"/>
          </p:cNvPr>
          <p:cNvSpPr/>
          <p:nvPr/>
        </p:nvSpPr>
        <p:spPr>
          <a:xfrm>
            <a:off x="4553712" y="6455664"/>
            <a:ext cx="91074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u="sng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5" invalidUrl="" action="" tgtFrame="" tooltip="DGM outer loo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S20 DGM loop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018520" y="640994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 / 23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94360" y="2304288"/>
            <a:ext cx="3054096" cy="1051560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4360" y="2304288"/>
            <a:ext cx="41148" cy="1051560"/>
          </a:xfrm>
          <a:prstGeom prst="rect">
            <a:avLst/>
          </a:prstGeom>
          <a:solidFill>
            <a:srgbClr val="B6AEFF"/>
          </a:solidFill>
          <a:ln w="10160">
            <a:solidFill>
              <a:srgbClr val="B6AE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2423160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6AE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Context 组装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77240" y="2880360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 + 相关片段 + 当前进度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096512" y="2304288"/>
            <a:ext cx="3767328" cy="1051560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096512" y="2304288"/>
            <a:ext cx="41148" cy="1051560"/>
          </a:xfrm>
          <a:prstGeom prst="rect">
            <a:avLst/>
          </a:prstGeom>
          <a:solidFill>
            <a:srgbClr val="65D9F4"/>
          </a:solidFill>
          <a:ln w="10160">
            <a:solidFill>
              <a:srgbClr val="65D9F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79392" y="2423160"/>
            <a:ext cx="3401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5D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Agent Loop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279392" y="2880360"/>
            <a:ext cx="3401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 ↔ 行动 ↔ 反馈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330184" y="2304288"/>
            <a:ext cx="3264408" cy="1051560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30184" y="2304288"/>
            <a:ext cx="41148" cy="1051560"/>
          </a:xfrm>
          <a:prstGeom prst="rect">
            <a:avLst/>
          </a:prstGeom>
          <a:solidFill>
            <a:srgbClr val="9DE2BC"/>
          </a:solidFill>
          <a:ln w="10160">
            <a:solidFill>
              <a:srgbClr val="9DE2B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513064" y="2423160"/>
            <a:ext cx="2898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 / 环境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8513064" y="2880360"/>
            <a:ext cx="2898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文件 · 执行 · 观察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3685032" y="2834640"/>
            <a:ext cx="365760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7900416" y="2834640"/>
            <a:ext cx="384048" cy="0"/>
          </a:xfrm>
          <a:prstGeom prst="line">
            <a:avLst/>
          </a:prstGeom>
          <a:noFill/>
          <a:ln w="19050">
            <a:solidFill>
              <a:srgbClr val="65D9F4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4096512" y="3575304"/>
            <a:ext cx="7498080" cy="46634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88536" y="3666744"/>
            <a:ext cx="71140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Harness：运行政策 / 会话日志 / 生命周期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594360" y="4224528"/>
            <a:ext cx="3054096" cy="1024128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94360" y="4224528"/>
            <a:ext cx="41148" cy="1024128"/>
          </a:xfrm>
          <a:prstGeom prst="rect">
            <a:avLst/>
          </a:prstGeom>
          <a:solidFill>
            <a:srgbClr val="F5C879"/>
          </a:solidFill>
          <a:ln w="10160">
            <a:solidFill>
              <a:srgbClr val="F5C879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7240" y="4343400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C8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State / Memory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777240" y="4800600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保存进度与可复用信息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096512" y="4224528"/>
            <a:ext cx="3767328" cy="1024128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096512" y="4224528"/>
            <a:ext cx="41148" cy="1024128"/>
          </a:xfrm>
          <a:prstGeom prst="rect">
            <a:avLst/>
          </a:prstGeom>
          <a:solidFill>
            <a:srgbClr val="9DE2BC"/>
          </a:solidFill>
          <a:ln w="10160">
            <a:solidFill>
              <a:srgbClr val="9DE2B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279392" y="4343400"/>
            <a:ext cx="3401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Eval → 改动验收</a:t>
            </a:r>
            <a:endParaRPr lang="en-US" sz="2000" dirty="0"/>
          </a:p>
        </p:txBody>
      </p:sp>
      <p:sp>
        <p:nvSpPr>
          <p:cNvPr id="37" name="Text 34"/>
          <p:cNvSpPr/>
          <p:nvPr/>
        </p:nvSpPr>
        <p:spPr>
          <a:xfrm>
            <a:off x="4279392" y="4800600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事实 / 产物 / 成本；未见任务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8330184" y="4224528"/>
            <a:ext cx="3264408" cy="1024128"/>
          </a:xfrm>
          <a:prstGeom prst="rect">
            <a:avLst/>
          </a:prstGeom>
          <a:solidFill>
            <a:srgbClr val="152238"/>
          </a:solidFill>
          <a:ln w="10160">
            <a:solidFill>
              <a:srgbClr val="15223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330184" y="4224528"/>
            <a:ext cx="41148" cy="1024128"/>
          </a:xfrm>
          <a:prstGeom prst="rect">
            <a:avLst/>
          </a:prstGeom>
          <a:solidFill>
            <a:srgbClr val="B6AEFF"/>
          </a:solidFill>
          <a:ln w="10160">
            <a:solidFill>
              <a:srgbClr val="B6AE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513064" y="4343400"/>
            <a:ext cx="2898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6AE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RSI 研究问题</a:t>
            </a:r>
            <a:endParaRPr lang="en-US" sz="2000" dirty="0"/>
          </a:p>
        </p:txBody>
      </p:sp>
      <p:sp>
        <p:nvSpPr>
          <p:cNvPr id="41" name="Text 38"/>
          <p:cNvSpPr/>
          <p:nvPr/>
        </p:nvSpPr>
        <p:spPr>
          <a:xfrm>
            <a:off x="8513064" y="4800600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AD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是否提升后续自改进能力？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 flipV="1">
            <a:off x="2112264" y="3401568"/>
            <a:ext cx="0" cy="768096"/>
          </a:xfrm>
          <a:prstGeom prst="line">
            <a:avLst/>
          </a:prstGeom>
          <a:noFill/>
          <a:ln w="19050">
            <a:solidFill>
              <a:srgbClr val="F5C879"/>
            </a:solidFill>
            <a:prstDash val="solid"/>
            <a:headEnd type="none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5980176" y="4087368"/>
            <a:ext cx="0" cy="91440"/>
          </a:xfrm>
          <a:prstGeom prst="line">
            <a:avLst/>
          </a:prstGeom>
          <a:noFill/>
          <a:ln w="19050">
            <a:solidFill>
              <a:srgbClr val="9DE2BC"/>
            </a:solidFill>
            <a:prstDash val="solid"/>
            <a:headEnd type="none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7900416" y="4736592"/>
            <a:ext cx="384048" cy="0"/>
          </a:xfrm>
          <a:prstGeom prst="line">
            <a:avLst/>
          </a:prstGeom>
          <a:noFill/>
          <a:ln w="19050">
            <a:solidFill>
              <a:srgbClr val="B6AEFF"/>
            </a:solidFill>
            <a:prstDash val="solid"/>
            <a:headEnd type="none"/>
            <a:tailEnd type="triangle"/>
          </a:ln>
        </p:spPr>
      </p:sp>
      <p:sp>
        <p:nvSpPr>
          <p:cNvPr id="45" name="Shape 42"/>
          <p:cNvSpPr/>
          <p:nvPr/>
        </p:nvSpPr>
        <p:spPr>
          <a:xfrm>
            <a:off x="594360" y="5477256"/>
            <a:ext cx="11000232" cy="512064"/>
          </a:xfrm>
          <a:prstGeom prst="rect">
            <a:avLst/>
          </a:prstGeom>
          <a:solidFill>
            <a:srgbClr val="192C43"/>
          </a:solidFill>
          <a:ln w="10160">
            <a:solidFill>
              <a:srgbClr val="192C4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77240" y="5559552"/>
            <a:ext cx="10625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E2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先做可观察、可验收的小闭环，再讨论更大的自主性。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可编辑架构图</dc:title>
  <dc:subject>Agent、Harness、上下文、记忆、评测及 RSI 的关系</dc:subject>
  <dc:creator>Codex</dc:creator>
  <cp:lastModifiedBy>Codex</cp:lastModifiedBy>
  <cp:revision>1</cp:revision>
  <dcterms:created xsi:type="dcterms:W3CDTF">2026-10-23T03:52:01Z</dcterms:created>
  <dcterms:modified xsi:type="dcterms:W3CDTF">2026-10-23T03:52:01Z</dcterms:modified>
</cp:coreProperties>
</file>